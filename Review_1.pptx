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6"/>
  </p:notesMasterIdLst>
  <p:sldIdLst>
    <p:sldId id="256" r:id="rId2"/>
    <p:sldId id="331" r:id="rId3"/>
    <p:sldId id="330" r:id="rId4"/>
    <p:sldId id="332" r:id="rId5"/>
    <p:sldId id="333" r:id="rId6"/>
    <p:sldId id="334" r:id="rId7"/>
    <p:sldId id="335" r:id="rId8"/>
    <p:sldId id="336" r:id="rId9"/>
    <p:sldId id="337" r:id="rId10"/>
    <p:sldId id="338" r:id="rId11"/>
    <p:sldId id="340" r:id="rId12"/>
    <p:sldId id="339" r:id="rId13"/>
    <p:sldId id="341" r:id="rId14"/>
    <p:sldId id="342" r:id="rId15"/>
    <p:sldId id="300" r:id="rId16"/>
    <p:sldId id="343" r:id="rId17"/>
    <p:sldId id="344" r:id="rId18"/>
    <p:sldId id="345" r:id="rId19"/>
    <p:sldId id="346" r:id="rId20"/>
    <p:sldId id="347" r:id="rId21"/>
    <p:sldId id="348" r:id="rId22"/>
    <p:sldId id="349" r:id="rId23"/>
    <p:sldId id="350" r:id="rId24"/>
    <p:sldId id="351" r:id="rId25"/>
    <p:sldId id="352" r:id="rId26"/>
    <p:sldId id="353" r:id="rId27"/>
    <p:sldId id="354" r:id="rId28"/>
    <p:sldId id="355" r:id="rId29"/>
    <p:sldId id="356" r:id="rId30"/>
    <p:sldId id="357" r:id="rId31"/>
    <p:sldId id="358" r:id="rId32"/>
    <p:sldId id="359" r:id="rId33"/>
    <p:sldId id="360" r:id="rId34"/>
    <p:sldId id="361" r:id="rId35"/>
    <p:sldId id="362" r:id="rId36"/>
    <p:sldId id="363" r:id="rId37"/>
    <p:sldId id="364" r:id="rId38"/>
    <p:sldId id="365" r:id="rId39"/>
    <p:sldId id="366" r:id="rId40"/>
    <p:sldId id="367" r:id="rId41"/>
    <p:sldId id="368" r:id="rId42"/>
    <p:sldId id="369" r:id="rId43"/>
    <p:sldId id="370" r:id="rId44"/>
    <p:sldId id="371" r:id="rId45"/>
  </p:sldIdLst>
  <p:sldSz cx="9144000" cy="5143500" type="screen16x9"/>
  <p:notesSz cx="6858000" cy="9144000"/>
  <p:embeddedFontLst>
    <p:embeddedFont>
      <p:font typeface="Nunito" pitchFamily="2" charset="0"/>
      <p:regular r:id="rId47"/>
      <p:bold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60"/>
  </p:normalViewPr>
  <p:slideViewPr>
    <p:cSldViewPr snapToGrid="0">
      <p:cViewPr varScale="1">
        <p:scale>
          <a:sx n="111" d="100"/>
          <a:sy n="111" d="100"/>
        </p:scale>
        <p:origin x="413"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c6f9e47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26" name="Google Shape;126;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c6f9e470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2" name="Google Shape;132;gc6f9e470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4" r:id="rId3"/>
    <p:sldLayoutId id="2147483656" r:id="rId4"/>
    <p:sldLayoutId id="214748365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a:spLocks noGrp="1"/>
          </p:cNvSpPr>
          <p:nvPr>
            <p:ph type="ctrTitle"/>
          </p:nvPr>
        </p:nvSpPr>
        <p:spPr>
          <a:xfrm>
            <a:off x="698810" y="1644414"/>
            <a:ext cx="8118088" cy="1448100"/>
          </a:xfrm>
          <a:prstGeom prst="rect">
            <a:avLst/>
          </a:prstGeom>
        </p:spPr>
        <p:txBody>
          <a:bodyPr spcFirstLastPara="1" wrap="square" lIns="91425" tIns="91425" rIns="91425" bIns="91425" anchor="ctr" anchorCtr="0">
            <a:normAutofit/>
          </a:bodyPr>
          <a:lstStyle/>
          <a:p>
            <a:r>
              <a:rPr lang="en-US" sz="5000" b="1" dirty="0" err="1"/>
              <a:t>MindSprint</a:t>
            </a:r>
            <a:endParaRPr lang="en-IN" sz="5000" b="1" dirty="0"/>
          </a:p>
        </p:txBody>
      </p:sp>
      <p:sp>
        <p:nvSpPr>
          <p:cNvPr id="129" name="Google Shape;129;p13"/>
          <p:cNvSpPr txBox="1">
            <a:spLocks noGrp="1"/>
          </p:cNvSpPr>
          <p:nvPr>
            <p:ph type="subTitle" idx="1"/>
          </p:nvPr>
        </p:nvSpPr>
        <p:spPr>
          <a:xfrm>
            <a:off x="5263375" y="3390854"/>
            <a:ext cx="3242732" cy="1188579"/>
          </a:xfrm>
          <a:prstGeom prst="rect">
            <a:avLst/>
          </a:prstGeom>
        </p:spPr>
        <p:txBody>
          <a:bodyPr spcFirstLastPara="1" wrap="square" lIns="91425" tIns="91425" rIns="91425" bIns="91425" anchor="t" anchorCtr="0">
            <a:noAutofit/>
          </a:bodyPr>
          <a:lstStyle/>
          <a:p>
            <a:endParaRPr lang="en-US" sz="100" dirty="0"/>
          </a:p>
          <a:p>
            <a:pPr algn="r"/>
            <a:r>
              <a:rPr lang="en-IN" sz="2000" dirty="0"/>
              <a:t>Sapoliya Dhruv</a:t>
            </a:r>
          </a:p>
          <a:p>
            <a:pPr algn="r"/>
            <a:r>
              <a:rPr lang="en-IN" sz="2000" dirty="0"/>
              <a:t>Vavaliya Dvarkesh</a:t>
            </a:r>
          </a:p>
          <a:p>
            <a:pPr algn="r"/>
            <a:r>
              <a:rPr lang="en-IN" sz="2000" dirty="0"/>
              <a:t>Prajapati </a:t>
            </a:r>
            <a:r>
              <a:rPr lang="en-US" sz="2000" dirty="0"/>
              <a:t>Krunal</a:t>
            </a:r>
            <a:r>
              <a:rPr lang="en-US" sz="100" dirty="0"/>
              <a:t> </a:t>
            </a:r>
            <a:endParaRPr lang="en-IN" sz="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1299-D3A3-4001-DAA0-7DDD08E2DD44}"/>
              </a:ext>
            </a:extLst>
          </p:cNvPr>
          <p:cNvSpPr>
            <a:spLocks noGrp="1"/>
          </p:cNvSpPr>
          <p:nvPr>
            <p:ph type="title"/>
          </p:nvPr>
        </p:nvSpPr>
        <p:spPr>
          <a:xfrm>
            <a:off x="1385850" y="1881900"/>
            <a:ext cx="6372300" cy="1379700"/>
          </a:xfrm>
        </p:spPr>
        <p:txBody>
          <a:bodyPr>
            <a:noAutofit/>
          </a:bodyPr>
          <a:lstStyle/>
          <a:p>
            <a:r>
              <a:rPr lang="en-US" sz="4000" b="1" dirty="0"/>
              <a:t>1. Introduction</a:t>
            </a:r>
            <a:endParaRPr lang="en-IN" sz="4000" dirty="0"/>
          </a:p>
        </p:txBody>
      </p:sp>
    </p:spTree>
    <p:extLst>
      <p:ext uri="{BB962C8B-B14F-4D97-AF65-F5344CB8AC3E}">
        <p14:creationId xmlns:p14="http://schemas.microsoft.com/office/powerpoint/2010/main" val="3229611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r>
              <a:rPr lang="en-US" b="1" dirty="0"/>
              <a:t>1.1 Existing System</a:t>
            </a:r>
            <a:endParaRPr lang="en-IN" dirty="0"/>
          </a:p>
        </p:txBody>
      </p:sp>
      <p:grpSp>
        <p:nvGrpSpPr>
          <p:cNvPr id="145" name="Google Shape;145;p14"/>
          <p:cNvGrpSpPr/>
          <p:nvPr/>
        </p:nvGrpSpPr>
        <p:grpSpPr>
          <a:xfrm>
            <a:off x="6212550" y="1304875"/>
            <a:ext cx="2632500" cy="3416400"/>
            <a:chOff x="6212550" y="1304875"/>
            <a:chExt cx="2632500" cy="3416400"/>
          </a:xfrm>
        </p:grpSpPr>
        <p:sp>
          <p:nvSpPr>
            <p:cNvPr id="146" name="Google Shape;146;p14"/>
            <p:cNvSpPr/>
            <p:nvPr/>
          </p:nvSpPr>
          <p:spPr>
            <a:xfrm>
              <a:off x="6215400" y="1304875"/>
              <a:ext cx="2628900" cy="3416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4"/>
            <p:cNvSpPr txBox="1"/>
            <p:nvPr/>
          </p:nvSpPr>
          <p:spPr>
            <a:xfrm>
              <a:off x="6212550" y="1304875"/>
              <a:ext cx="263250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 name="Google Shape;149;p14"/>
          <p:cNvSpPr txBox="1">
            <a:spLocks noGrp="1"/>
          </p:cNvSpPr>
          <p:nvPr>
            <p:ph type="body" idx="4294967295"/>
          </p:nvPr>
        </p:nvSpPr>
        <p:spPr>
          <a:xfrm>
            <a:off x="599075" y="1800200"/>
            <a:ext cx="7945850" cy="2794800"/>
          </a:xfrm>
          <a:prstGeom prst="rect">
            <a:avLst/>
          </a:prstGeom>
        </p:spPr>
        <p:txBody>
          <a:bodyPr spcFirstLastPara="1" wrap="square" lIns="91425" tIns="91425" rIns="91425" bIns="91425" anchor="t" anchorCtr="0">
            <a:normAutofit/>
          </a:bodyPr>
          <a:lstStyle/>
          <a:p>
            <a:r>
              <a:rPr lang="en-US" sz="1400" dirty="0"/>
              <a:t>The existing system for student placement preparation and technical skill learning primarily relies on physical textbooks, static offline notes, and scattered web platforms. Students currently use separate applications or websites for practicing quantitative aptitude, watching video lectures, reading technical documentation, and tracking their study habits.</a:t>
            </a:r>
            <a:endParaRPr lang="en-IN" sz="1400" dirty="0"/>
          </a:p>
          <a:p>
            <a:r>
              <a:rPr lang="en-US" sz="1400" dirty="0"/>
              <a:t>Key drawbacks of the existing system include:</a:t>
            </a:r>
            <a:endParaRPr lang="en-IN" sz="1400" dirty="0"/>
          </a:p>
          <a:p>
            <a:pPr lvl="0"/>
            <a:r>
              <a:rPr lang="en-US" sz="1400" dirty="0"/>
              <a:t>Disjointed platforms for exam preparation, skill learning, and progress tracking.</a:t>
            </a:r>
            <a:endParaRPr lang="en-IN" sz="1400" dirty="0"/>
          </a:p>
          <a:p>
            <a:pPr lvl="0"/>
            <a:r>
              <a:rPr lang="en-US" sz="1400" dirty="0"/>
              <a:t>Lack of real-time performance evaluation and weak spot identification.</a:t>
            </a:r>
            <a:endParaRPr lang="en-IN" sz="1400" dirty="0"/>
          </a:p>
          <a:p>
            <a:pPr lvl="0"/>
            <a:r>
              <a:rPr lang="en-US" sz="1400" dirty="0"/>
              <a:t>Inability to practice company-specific interview patterns in a single mobile interface.</a:t>
            </a:r>
            <a:endParaRPr lang="en-IN" sz="1400" dirty="0"/>
          </a:p>
          <a:p>
            <a:pPr lvl="0"/>
            <a:r>
              <a:rPr lang="en-US" sz="1400" dirty="0"/>
              <a:t>Manual tracking of daily study consistency without automated retention tools like flashcards or streak counters.</a:t>
            </a:r>
            <a:endParaRPr lang="en-IN"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6A7CB-46AF-7D1F-60A1-2EC231BF362F}"/>
              </a:ext>
            </a:extLst>
          </p:cNvPr>
          <p:cNvSpPr>
            <a:spLocks noGrp="1"/>
          </p:cNvSpPr>
          <p:nvPr>
            <p:ph type="title"/>
          </p:nvPr>
        </p:nvSpPr>
        <p:spPr/>
        <p:txBody>
          <a:bodyPr>
            <a:normAutofit fontScale="90000"/>
          </a:bodyPr>
          <a:lstStyle/>
          <a:p>
            <a:r>
              <a:rPr lang="en-US" b="1" dirty="0"/>
              <a:t>1.2 Need for the New System</a:t>
            </a:r>
            <a:br>
              <a:rPr lang="en-IN" dirty="0"/>
            </a:br>
            <a:endParaRPr lang="en-IN" dirty="0"/>
          </a:p>
        </p:txBody>
      </p:sp>
      <p:sp>
        <p:nvSpPr>
          <p:cNvPr id="5" name="Google Shape;149;p14">
            <a:extLst>
              <a:ext uri="{FF2B5EF4-FFF2-40B4-BE49-F238E27FC236}">
                <a16:creationId xmlns:a16="http://schemas.microsoft.com/office/drawing/2014/main" id="{65DEEEB9-03DF-92AD-EE1E-986119D9ED60}"/>
              </a:ext>
            </a:extLst>
          </p:cNvPr>
          <p:cNvSpPr txBox="1">
            <a:spLocks/>
          </p:cNvSpPr>
          <p:nvPr/>
        </p:nvSpPr>
        <p:spPr>
          <a:xfrm>
            <a:off x="599075" y="1800200"/>
            <a:ext cx="7945850" cy="27948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r>
              <a:rPr lang="en-US" sz="1400" dirty="0"/>
              <a:t>With the rapid increase in competitive campus placement drives (TCS, Infosys, Wipro, Accenture, Amazon, Google), students require a unified, mobile-first learning management system.</a:t>
            </a:r>
            <a:endParaRPr lang="en-IN" sz="1400" dirty="0"/>
          </a:p>
          <a:p>
            <a:r>
              <a:rPr lang="en-US" sz="1400" dirty="0"/>
              <a:t>The new system, </a:t>
            </a:r>
            <a:r>
              <a:rPr lang="en-US" sz="1400" dirty="0" err="1"/>
              <a:t>MindSprint</a:t>
            </a:r>
            <a:r>
              <a:rPr lang="en-US" sz="1400" dirty="0"/>
              <a:t>, addresses this need by combining:</a:t>
            </a:r>
            <a:endParaRPr lang="en-IN" sz="1400" dirty="0"/>
          </a:p>
          <a:p>
            <a:pPr lvl="0"/>
            <a:r>
              <a:rPr lang="en-US" sz="1400" dirty="0"/>
              <a:t>Practice questions categorized by Quantitative Aptitude, Logical Reasoning, and IT Technical topics.</a:t>
            </a:r>
            <a:endParaRPr lang="en-IN" sz="1400" dirty="0"/>
          </a:p>
          <a:p>
            <a:pPr lvl="0"/>
            <a:r>
              <a:rPr lang="en-US" sz="1400" dirty="0"/>
              <a:t>Company-specific question filters.</a:t>
            </a:r>
            <a:endParaRPr lang="en-IN" sz="1400" dirty="0"/>
          </a:p>
          <a:p>
            <a:pPr lvl="0"/>
            <a:r>
              <a:rPr lang="en-US" sz="1400" dirty="0"/>
              <a:t>Real-time exam simulation with live timers and scratchpad tools.</a:t>
            </a:r>
            <a:endParaRPr lang="en-IN" sz="1400" dirty="0"/>
          </a:p>
          <a:p>
            <a:pPr lvl="0"/>
            <a:r>
              <a:rPr lang="en-US" sz="1400" dirty="0"/>
              <a:t>Intelligent analytics to identify weak topics based on past test attempts.</a:t>
            </a:r>
            <a:endParaRPr lang="en-IN" sz="1400" dirty="0"/>
          </a:p>
          <a:p>
            <a:pPr lvl="0"/>
            <a:r>
              <a:rPr lang="en-US" sz="1400" dirty="0"/>
              <a:t>Integrated video learning modules and interactive flashcards.</a:t>
            </a:r>
            <a:endParaRPr lang="en-IN" sz="1400" dirty="0"/>
          </a:p>
        </p:txBody>
      </p:sp>
    </p:spTree>
    <p:extLst>
      <p:ext uri="{BB962C8B-B14F-4D97-AF65-F5344CB8AC3E}">
        <p14:creationId xmlns:p14="http://schemas.microsoft.com/office/powerpoint/2010/main" val="2419562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83BD4-53FB-2843-8CB0-28F496195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34E523-8B21-43D9-B167-CAE6C88587A0}"/>
              </a:ext>
            </a:extLst>
          </p:cNvPr>
          <p:cNvSpPr>
            <a:spLocks noGrp="1"/>
          </p:cNvSpPr>
          <p:nvPr>
            <p:ph type="title"/>
          </p:nvPr>
        </p:nvSpPr>
        <p:spPr/>
        <p:txBody>
          <a:bodyPr>
            <a:normAutofit/>
          </a:bodyPr>
          <a:lstStyle/>
          <a:p>
            <a:r>
              <a:rPr lang="en-US" b="1" dirty="0"/>
              <a:t>1.3 Objective of the New System</a:t>
            </a:r>
            <a:endParaRPr lang="en-IN" dirty="0"/>
          </a:p>
        </p:txBody>
      </p:sp>
      <p:sp>
        <p:nvSpPr>
          <p:cNvPr id="5" name="Google Shape;149;p14">
            <a:extLst>
              <a:ext uri="{FF2B5EF4-FFF2-40B4-BE49-F238E27FC236}">
                <a16:creationId xmlns:a16="http://schemas.microsoft.com/office/drawing/2014/main" id="{2AAF3BE0-8F86-5186-CFA8-86EA8E9F8FE4}"/>
              </a:ext>
            </a:extLst>
          </p:cNvPr>
          <p:cNvSpPr txBox="1">
            <a:spLocks/>
          </p:cNvSpPr>
          <p:nvPr/>
        </p:nvSpPr>
        <p:spPr>
          <a:xfrm>
            <a:off x="599075" y="1800200"/>
            <a:ext cx="7945850" cy="27948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r>
              <a:rPr lang="en-US" sz="1400" dirty="0"/>
              <a:t>The primary objectives of </a:t>
            </a:r>
            <a:r>
              <a:rPr lang="en-US" sz="1400" dirty="0" err="1"/>
              <a:t>MindSprint</a:t>
            </a:r>
            <a:r>
              <a:rPr lang="en-US" sz="1400" dirty="0"/>
              <a:t> are:-</a:t>
            </a:r>
          </a:p>
          <a:p>
            <a:pPr marL="146050" indent="0">
              <a:buNone/>
            </a:pPr>
            <a:endParaRPr lang="en-IN" sz="1400" dirty="0"/>
          </a:p>
          <a:p>
            <a:pPr marL="488950" lvl="0" indent="-342900">
              <a:buFont typeface="+mj-lt"/>
              <a:buAutoNum type="arabicPeriod"/>
            </a:pPr>
            <a:r>
              <a:rPr lang="en-US" sz="1400" dirty="0"/>
              <a:t>To provide a consolidated mobile platform for aptitude practice, technical courses, and academic revision.</a:t>
            </a:r>
            <a:endParaRPr lang="en-IN" sz="1400" dirty="0"/>
          </a:p>
          <a:p>
            <a:pPr marL="488950" lvl="0" indent="-342900">
              <a:buFont typeface="+mj-lt"/>
              <a:buAutoNum type="arabicPeriod"/>
            </a:pPr>
            <a:r>
              <a:rPr lang="en-US" sz="1400" dirty="0"/>
              <a:t>To enable company-wise filter options for focused campus drive preparation.</a:t>
            </a:r>
            <a:endParaRPr lang="en-IN" sz="1400" dirty="0"/>
          </a:p>
          <a:p>
            <a:pPr marL="488950" lvl="0" indent="-342900">
              <a:buFont typeface="+mj-lt"/>
              <a:buAutoNum type="arabicPeriod"/>
            </a:pPr>
            <a:r>
              <a:rPr lang="en-US" sz="1400" dirty="0"/>
              <a:t> To deliver real-time exam evaluation with automated score calculation and topic-level weak spot detection.</a:t>
            </a:r>
            <a:endParaRPr lang="en-IN" sz="1400" dirty="0"/>
          </a:p>
          <a:p>
            <a:pPr marL="488950" lvl="0" indent="-342900">
              <a:buFont typeface="+mj-lt"/>
              <a:buAutoNum type="arabicPeriod"/>
            </a:pPr>
            <a:r>
              <a:rPr lang="en-US" sz="1400" dirty="0"/>
              <a:t>To improve daily student engagement through streak tracking and </a:t>
            </a:r>
            <a:r>
              <a:rPr lang="en-US" sz="1400" dirty="0" err="1"/>
              <a:t>swipeable</a:t>
            </a:r>
            <a:r>
              <a:rPr lang="en-US" sz="1400" dirty="0"/>
              <a:t> flashcards.</a:t>
            </a:r>
            <a:endParaRPr lang="en-IN" sz="1400" dirty="0"/>
          </a:p>
          <a:p>
            <a:pPr marL="488950" lvl="0" indent="-342900">
              <a:buFont typeface="+mj-lt"/>
              <a:buAutoNum type="arabicPeriod"/>
            </a:pPr>
            <a:r>
              <a:rPr lang="en-US" sz="1400" dirty="0"/>
              <a:t>5To offer a robust full-stack architecture with backend database persistence and offline dataset fallback.</a:t>
            </a:r>
            <a:endParaRPr lang="en-IN" sz="1400" dirty="0"/>
          </a:p>
        </p:txBody>
      </p:sp>
    </p:spTree>
    <p:extLst>
      <p:ext uri="{BB962C8B-B14F-4D97-AF65-F5344CB8AC3E}">
        <p14:creationId xmlns:p14="http://schemas.microsoft.com/office/powerpoint/2010/main" val="931295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9ECD5-FA68-B3B0-1AE7-2E4E0B34C6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3A9A07-E0F8-04D7-DB57-6F56DE7FC6A8}"/>
              </a:ext>
            </a:extLst>
          </p:cNvPr>
          <p:cNvSpPr>
            <a:spLocks noGrp="1"/>
          </p:cNvSpPr>
          <p:nvPr>
            <p:ph type="title"/>
          </p:nvPr>
        </p:nvSpPr>
        <p:spPr/>
        <p:txBody>
          <a:bodyPr>
            <a:normAutofit/>
          </a:bodyPr>
          <a:lstStyle/>
          <a:p>
            <a:r>
              <a:rPr lang="en-US" b="1" dirty="0"/>
              <a:t>1.4 Problem Definition</a:t>
            </a:r>
            <a:endParaRPr lang="en-IN" dirty="0"/>
          </a:p>
        </p:txBody>
      </p:sp>
      <p:sp>
        <p:nvSpPr>
          <p:cNvPr id="5" name="Google Shape;149;p14">
            <a:extLst>
              <a:ext uri="{FF2B5EF4-FFF2-40B4-BE49-F238E27FC236}">
                <a16:creationId xmlns:a16="http://schemas.microsoft.com/office/drawing/2014/main" id="{30327FDD-DFE5-599D-5B35-10C2390E402A}"/>
              </a:ext>
            </a:extLst>
          </p:cNvPr>
          <p:cNvSpPr txBox="1">
            <a:spLocks/>
          </p:cNvSpPr>
          <p:nvPr/>
        </p:nvSpPr>
        <p:spPr>
          <a:xfrm>
            <a:off x="599075" y="1800200"/>
            <a:ext cx="7945850" cy="27948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r>
              <a:rPr lang="en-US" sz="1400" dirty="0"/>
              <a:t>Students preparing for IT job placements face difficulty in identifying their specific technical and quantitative weak areas due to a lack of detailed test analysis. Furthermore, switching between multiple apps for learning, practicing, and reviewing formulas leads to reduced focus and study fragmentation.</a:t>
            </a:r>
          </a:p>
          <a:p>
            <a:endParaRPr lang="en-IN" sz="1400" dirty="0"/>
          </a:p>
          <a:p>
            <a:r>
              <a:rPr lang="en-US" sz="1400" dirty="0" err="1"/>
              <a:t>MindSprint</a:t>
            </a:r>
            <a:r>
              <a:rPr lang="en-US" sz="1400" dirty="0"/>
              <a:t> solves this problem by integrating test execution, video learning, weak topic analysis, and formula flashcards into a single application supported by a Node.js/MongoDB REST API backend.</a:t>
            </a:r>
            <a:endParaRPr lang="en-IN" sz="1400" dirty="0"/>
          </a:p>
        </p:txBody>
      </p:sp>
    </p:spTree>
    <p:extLst>
      <p:ext uri="{BB962C8B-B14F-4D97-AF65-F5344CB8AC3E}">
        <p14:creationId xmlns:p14="http://schemas.microsoft.com/office/powerpoint/2010/main" val="2137050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7CF5A-F0A2-E4E7-DD34-E8DB3DA451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F4EAB6-7E58-9A2B-BBC9-03891A2A54F6}"/>
              </a:ext>
            </a:extLst>
          </p:cNvPr>
          <p:cNvSpPr>
            <a:spLocks noGrp="1"/>
          </p:cNvSpPr>
          <p:nvPr>
            <p:ph type="title"/>
          </p:nvPr>
        </p:nvSpPr>
        <p:spPr/>
        <p:txBody>
          <a:bodyPr>
            <a:normAutofit/>
          </a:bodyPr>
          <a:lstStyle/>
          <a:p>
            <a:r>
              <a:rPr lang="en-US" b="1" dirty="0"/>
              <a:t>1.5 Core Components</a:t>
            </a:r>
            <a:endParaRPr lang="en-IN" dirty="0"/>
          </a:p>
        </p:txBody>
      </p:sp>
      <p:sp>
        <p:nvSpPr>
          <p:cNvPr id="5" name="Google Shape;149;p14">
            <a:extLst>
              <a:ext uri="{FF2B5EF4-FFF2-40B4-BE49-F238E27FC236}">
                <a16:creationId xmlns:a16="http://schemas.microsoft.com/office/drawing/2014/main" id="{A80D62E3-0B1D-E0BA-001F-F22923016452}"/>
              </a:ext>
            </a:extLst>
          </p:cNvPr>
          <p:cNvSpPr txBox="1">
            <a:spLocks/>
          </p:cNvSpPr>
          <p:nvPr/>
        </p:nvSpPr>
        <p:spPr>
          <a:xfrm>
            <a:off x="599075" y="1800200"/>
            <a:ext cx="7945850" cy="27948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r>
              <a:rPr lang="en-US" sz="1600" dirty="0" err="1"/>
              <a:t>MindSprint</a:t>
            </a:r>
            <a:r>
              <a:rPr lang="en-US" sz="1600" dirty="0"/>
              <a:t> consists of four primary software components :-</a:t>
            </a:r>
          </a:p>
          <a:p>
            <a:pPr marL="146050" indent="0">
              <a:buNone/>
            </a:pPr>
            <a:endParaRPr lang="en-IN" sz="1400" dirty="0"/>
          </a:p>
          <a:p>
            <a:pPr marL="146050" lvl="0" indent="0">
              <a:buNone/>
            </a:pPr>
            <a:r>
              <a:rPr lang="en-US" sz="1400" dirty="0"/>
              <a:t>1. Mobile Client App: React Native frontend built with Expo v54, TypeScript, and Expo Router.</a:t>
            </a:r>
            <a:endParaRPr lang="en-IN" sz="1400" dirty="0"/>
          </a:p>
          <a:p>
            <a:pPr marL="146050" lvl="0" indent="0">
              <a:buNone/>
            </a:pPr>
            <a:r>
              <a:rPr lang="en-US" sz="1400" dirty="0"/>
              <a:t>2. REST API Backend: Node.js and Express server delivering authentication, question banks, course data, and exam result processing.</a:t>
            </a:r>
            <a:endParaRPr lang="en-IN" sz="1400" dirty="0"/>
          </a:p>
          <a:p>
            <a:pPr marL="146050" lvl="0" indent="0">
              <a:buNone/>
            </a:pPr>
            <a:r>
              <a:rPr lang="en-US" sz="1400" dirty="0"/>
              <a:t>3. Database Layer: MongoDB database storing User accounts, Question banks, Courses, and Exam Results.</a:t>
            </a:r>
            <a:endParaRPr lang="en-IN" sz="1400" dirty="0"/>
          </a:p>
          <a:p>
            <a:pPr marL="146050" lvl="0" indent="0">
              <a:buNone/>
            </a:pPr>
            <a:r>
              <a:rPr lang="en-US" sz="1400" dirty="0"/>
              <a:t>4. Offline Resilience Layer: Fallback service layer (</a:t>
            </a:r>
            <a:r>
              <a:rPr lang="en-US" sz="1400" dirty="0" err="1"/>
              <a:t>ApiService</a:t>
            </a:r>
            <a:r>
              <a:rPr lang="en-US" sz="1400" dirty="0"/>
              <a:t>) ensuring continuous app functionality using local datasets when network connectivity is lost.</a:t>
            </a:r>
            <a:endParaRPr lang="en-IN" sz="1400" dirty="0"/>
          </a:p>
        </p:txBody>
      </p:sp>
    </p:spTree>
    <p:extLst>
      <p:ext uri="{BB962C8B-B14F-4D97-AF65-F5344CB8AC3E}">
        <p14:creationId xmlns:p14="http://schemas.microsoft.com/office/powerpoint/2010/main" val="3296153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0CEAF-F4AE-858E-C8FB-9FB406F3D8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321640-FCAC-3AC7-A535-FDB8C5C06E7C}"/>
              </a:ext>
            </a:extLst>
          </p:cNvPr>
          <p:cNvSpPr>
            <a:spLocks noGrp="1"/>
          </p:cNvSpPr>
          <p:nvPr>
            <p:ph type="title"/>
          </p:nvPr>
        </p:nvSpPr>
        <p:spPr/>
        <p:txBody>
          <a:bodyPr>
            <a:normAutofit/>
          </a:bodyPr>
          <a:lstStyle/>
          <a:p>
            <a:r>
              <a:rPr lang="en-US" b="1" dirty="0"/>
              <a:t>1.6 Project Profile</a:t>
            </a:r>
            <a:endParaRPr lang="en-IN" dirty="0"/>
          </a:p>
        </p:txBody>
      </p:sp>
      <p:sp>
        <p:nvSpPr>
          <p:cNvPr id="5" name="Google Shape;149;p14">
            <a:extLst>
              <a:ext uri="{FF2B5EF4-FFF2-40B4-BE49-F238E27FC236}">
                <a16:creationId xmlns:a16="http://schemas.microsoft.com/office/drawing/2014/main" id="{9E58247F-7AE8-F38C-AA96-FCAD41683B47}"/>
              </a:ext>
            </a:extLst>
          </p:cNvPr>
          <p:cNvSpPr txBox="1">
            <a:spLocks/>
          </p:cNvSpPr>
          <p:nvPr/>
        </p:nvSpPr>
        <p:spPr>
          <a:xfrm>
            <a:off x="599075" y="1800200"/>
            <a:ext cx="7945850" cy="27948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pPr lvl="0"/>
            <a:r>
              <a:rPr lang="en-US" sz="1400" b="1" dirty="0"/>
              <a:t>Project Title </a:t>
            </a:r>
            <a:r>
              <a:rPr lang="en-US" sz="1400" dirty="0"/>
              <a:t>:- </a:t>
            </a:r>
            <a:r>
              <a:rPr lang="en-US" sz="1400" dirty="0" err="1"/>
              <a:t>MindSprint</a:t>
            </a:r>
            <a:r>
              <a:rPr lang="en-US" sz="1400" dirty="0"/>
              <a:t> - Placement Preparation &amp; Skill Learning App</a:t>
            </a:r>
            <a:endParaRPr lang="en-IN" sz="1400" dirty="0"/>
          </a:p>
          <a:p>
            <a:pPr lvl="0"/>
            <a:r>
              <a:rPr lang="en-US" sz="1400" b="1" dirty="0"/>
              <a:t>Front-End Technology </a:t>
            </a:r>
            <a:r>
              <a:rPr lang="en-US" sz="1400" dirty="0"/>
              <a:t>:- React Native, Expo v54, TypeScript, Expo Router</a:t>
            </a:r>
            <a:endParaRPr lang="en-IN" sz="1400" dirty="0"/>
          </a:p>
          <a:p>
            <a:pPr lvl="0"/>
            <a:r>
              <a:rPr lang="en-US" sz="1400" b="1" dirty="0"/>
              <a:t>Back-End Technology </a:t>
            </a:r>
            <a:r>
              <a:rPr lang="en-US" sz="1400" dirty="0"/>
              <a:t>:- Node.js, Express.js REST API</a:t>
            </a:r>
            <a:endParaRPr lang="en-IN" sz="1400" dirty="0"/>
          </a:p>
          <a:p>
            <a:pPr lvl="0"/>
            <a:r>
              <a:rPr lang="en-US" sz="1400" b="1" dirty="0"/>
              <a:t>Database </a:t>
            </a:r>
            <a:r>
              <a:rPr lang="en-US" sz="1400" dirty="0"/>
              <a:t>:- MongoDB / Mongoose ODM</a:t>
            </a:r>
            <a:endParaRPr lang="en-IN" sz="1400" dirty="0"/>
          </a:p>
          <a:p>
            <a:pPr lvl="0"/>
            <a:r>
              <a:rPr lang="en-US" sz="1400" b="1" dirty="0"/>
              <a:t>Target OS </a:t>
            </a:r>
            <a:r>
              <a:rPr lang="en-US" sz="1400" dirty="0"/>
              <a:t>:- Android, iOS, Web</a:t>
            </a:r>
            <a:endParaRPr lang="en-IN" sz="1400" dirty="0"/>
          </a:p>
          <a:p>
            <a:pPr lvl="0"/>
            <a:r>
              <a:rPr lang="en-US" sz="1400" b="1" dirty="0"/>
              <a:t>IDE / Environment </a:t>
            </a:r>
            <a:r>
              <a:rPr lang="en-US" sz="1400" dirty="0"/>
              <a:t>:- VS Code, Node.js v20+, Expo CLI</a:t>
            </a:r>
            <a:endParaRPr lang="en-IN" dirty="0"/>
          </a:p>
        </p:txBody>
      </p:sp>
    </p:spTree>
    <p:extLst>
      <p:ext uri="{BB962C8B-B14F-4D97-AF65-F5344CB8AC3E}">
        <p14:creationId xmlns:p14="http://schemas.microsoft.com/office/powerpoint/2010/main" val="3350138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A01C8-9290-3B52-588C-6751628457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0B969-9533-B343-03FD-8247536FC7BA}"/>
              </a:ext>
            </a:extLst>
          </p:cNvPr>
          <p:cNvSpPr>
            <a:spLocks noGrp="1"/>
          </p:cNvSpPr>
          <p:nvPr>
            <p:ph type="title"/>
          </p:nvPr>
        </p:nvSpPr>
        <p:spPr/>
        <p:txBody>
          <a:bodyPr>
            <a:normAutofit/>
          </a:bodyPr>
          <a:lstStyle/>
          <a:p>
            <a:r>
              <a:rPr lang="en-US" b="1" dirty="0"/>
              <a:t>1.7 Assumptions and Constraints</a:t>
            </a:r>
            <a:endParaRPr lang="en-IN" dirty="0"/>
          </a:p>
        </p:txBody>
      </p:sp>
      <p:sp>
        <p:nvSpPr>
          <p:cNvPr id="5" name="Google Shape;149;p14">
            <a:extLst>
              <a:ext uri="{FF2B5EF4-FFF2-40B4-BE49-F238E27FC236}">
                <a16:creationId xmlns:a16="http://schemas.microsoft.com/office/drawing/2014/main" id="{538905D3-1EB1-B9FC-BAB7-50E22635B547}"/>
              </a:ext>
            </a:extLst>
          </p:cNvPr>
          <p:cNvSpPr txBox="1">
            <a:spLocks/>
          </p:cNvSpPr>
          <p:nvPr/>
        </p:nvSpPr>
        <p:spPr>
          <a:xfrm>
            <a:off x="599075" y="1800200"/>
            <a:ext cx="7945850" cy="2794800"/>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pPr>
              <a:buFont typeface="Wingdings" panose="05000000000000000000" pitchFamily="2" charset="2"/>
              <a:buChar char="q"/>
            </a:pPr>
            <a:r>
              <a:rPr lang="en-US" sz="1600" b="1" dirty="0"/>
              <a:t>Assumptions:</a:t>
            </a:r>
          </a:p>
          <a:p>
            <a:pPr marL="146050" indent="0">
              <a:buNone/>
            </a:pPr>
            <a:endParaRPr lang="en-IN" sz="1400" dirty="0"/>
          </a:p>
          <a:p>
            <a:pPr lvl="0"/>
            <a:r>
              <a:rPr lang="en-US" sz="1400" dirty="0"/>
              <a:t>Users possess an active Android/iOS mobile device or modern web browser.</a:t>
            </a:r>
            <a:endParaRPr lang="en-IN" sz="1400" dirty="0"/>
          </a:p>
          <a:p>
            <a:pPr lvl="0"/>
            <a:r>
              <a:rPr lang="en-US" sz="1400" dirty="0"/>
              <a:t>Network connectivity is available for user registration, live backend sync, and course video streaming.</a:t>
            </a:r>
          </a:p>
          <a:p>
            <a:pPr marL="146050" lvl="0" indent="0">
              <a:buNone/>
            </a:pPr>
            <a:endParaRPr lang="en-IN" sz="1400" dirty="0"/>
          </a:p>
          <a:p>
            <a:pPr>
              <a:buFont typeface="Wingdings" panose="05000000000000000000" pitchFamily="2" charset="2"/>
              <a:buChar char="q"/>
            </a:pPr>
            <a:r>
              <a:rPr lang="en-US" sz="1600" b="1" dirty="0"/>
              <a:t>Constraints:</a:t>
            </a:r>
          </a:p>
          <a:p>
            <a:pPr marL="146050" indent="0">
              <a:buNone/>
            </a:pPr>
            <a:endParaRPr lang="en-IN" sz="1400" dirty="0"/>
          </a:p>
          <a:p>
            <a:pPr lvl="0"/>
            <a:r>
              <a:rPr lang="en-US" sz="1400" dirty="0"/>
              <a:t>Offline mode relies on static local datasets for practice questions.</a:t>
            </a:r>
            <a:endParaRPr lang="en-IN" sz="1400" dirty="0"/>
          </a:p>
          <a:p>
            <a:pPr lvl="0"/>
            <a:r>
              <a:rPr lang="en-US" sz="1400" dirty="0"/>
              <a:t>Video playback requires active internet bandwidth.</a:t>
            </a:r>
            <a:endParaRPr lang="en-IN" sz="1400" dirty="0"/>
          </a:p>
          <a:p>
            <a:pPr lvl="0"/>
            <a:r>
              <a:rPr lang="en-US" sz="1400" dirty="0"/>
              <a:t>Backend API authentication uses JWT/hashed passwords for secure user access.</a:t>
            </a:r>
            <a:endParaRPr lang="en-IN" sz="1400" dirty="0"/>
          </a:p>
        </p:txBody>
      </p:sp>
    </p:spTree>
    <p:extLst>
      <p:ext uri="{BB962C8B-B14F-4D97-AF65-F5344CB8AC3E}">
        <p14:creationId xmlns:p14="http://schemas.microsoft.com/office/powerpoint/2010/main" val="2433093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BEDC7-70C1-FB3A-D1AC-162A28990A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F74A7-0885-6E74-232A-C734AA5C8B4A}"/>
              </a:ext>
            </a:extLst>
          </p:cNvPr>
          <p:cNvSpPr>
            <a:spLocks noGrp="1"/>
          </p:cNvSpPr>
          <p:nvPr>
            <p:ph type="title"/>
          </p:nvPr>
        </p:nvSpPr>
        <p:spPr>
          <a:xfrm>
            <a:off x="542551" y="793561"/>
            <a:ext cx="7945850" cy="954600"/>
          </a:xfrm>
        </p:spPr>
        <p:txBody>
          <a:bodyPr>
            <a:normAutofit fontScale="90000"/>
          </a:bodyPr>
          <a:lstStyle/>
          <a:p>
            <a:r>
              <a:rPr lang="en-US" b="1" dirty="0"/>
              <a:t>1.8 Advantages and Limitations of the Proposed System</a:t>
            </a:r>
            <a:endParaRPr lang="en-IN" dirty="0"/>
          </a:p>
        </p:txBody>
      </p:sp>
      <p:sp>
        <p:nvSpPr>
          <p:cNvPr id="5" name="Google Shape;149;p14">
            <a:extLst>
              <a:ext uri="{FF2B5EF4-FFF2-40B4-BE49-F238E27FC236}">
                <a16:creationId xmlns:a16="http://schemas.microsoft.com/office/drawing/2014/main" id="{42A4605B-CCEA-17FA-813C-AFC8DA688780}"/>
              </a:ext>
            </a:extLst>
          </p:cNvPr>
          <p:cNvSpPr txBox="1">
            <a:spLocks/>
          </p:cNvSpPr>
          <p:nvPr/>
        </p:nvSpPr>
        <p:spPr>
          <a:xfrm>
            <a:off x="599075" y="1800200"/>
            <a:ext cx="7945850" cy="2794800"/>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pPr>
              <a:buFont typeface="Wingdings" panose="05000000000000000000" pitchFamily="2" charset="2"/>
              <a:buChar char="q"/>
            </a:pPr>
            <a:r>
              <a:rPr lang="en-US" sz="1400" b="1" dirty="0"/>
              <a:t>Advantages :-</a:t>
            </a:r>
          </a:p>
          <a:p>
            <a:pPr marL="146050" indent="0">
              <a:buNone/>
            </a:pPr>
            <a:endParaRPr lang="en-IN" sz="1400" dirty="0"/>
          </a:p>
          <a:p>
            <a:pPr lvl="0"/>
            <a:r>
              <a:rPr lang="en-US" dirty="0"/>
              <a:t>Single unified platform for aptitude practice, course videos, and flashcards.</a:t>
            </a:r>
            <a:endParaRPr lang="en-IN" dirty="0"/>
          </a:p>
          <a:p>
            <a:pPr lvl="0"/>
            <a:r>
              <a:rPr lang="en-US" dirty="0"/>
              <a:t>Real-time weak spot detection helping students target problem areas.</a:t>
            </a:r>
            <a:endParaRPr lang="en-IN" dirty="0"/>
          </a:p>
          <a:p>
            <a:pPr lvl="0"/>
            <a:r>
              <a:rPr lang="en-US" dirty="0"/>
              <a:t>Automated score calculation and test analytics.</a:t>
            </a:r>
            <a:endParaRPr lang="en-IN" dirty="0"/>
          </a:p>
          <a:p>
            <a:pPr lvl="0"/>
            <a:r>
              <a:rPr lang="en-US" dirty="0"/>
              <a:t>Cross-platform compatibility (Android, iOS, Web).</a:t>
            </a:r>
            <a:endParaRPr lang="en-IN" dirty="0"/>
          </a:p>
          <a:p>
            <a:pPr lvl="0"/>
            <a:r>
              <a:rPr lang="en-US" dirty="0"/>
              <a:t>Graceful offline fallback mechanism.</a:t>
            </a:r>
          </a:p>
          <a:p>
            <a:pPr marL="146050" lvl="0" indent="0">
              <a:buNone/>
            </a:pPr>
            <a:endParaRPr lang="en-IN" dirty="0"/>
          </a:p>
          <a:p>
            <a:pPr>
              <a:buFont typeface="Wingdings" panose="05000000000000000000" pitchFamily="2" charset="2"/>
              <a:buChar char="q"/>
            </a:pPr>
            <a:r>
              <a:rPr lang="en-US" sz="1400" b="1" dirty="0"/>
              <a:t>Limitations :-</a:t>
            </a:r>
          </a:p>
          <a:p>
            <a:pPr>
              <a:buFont typeface="Wingdings" panose="05000000000000000000" pitchFamily="2" charset="2"/>
              <a:buChar char="q"/>
            </a:pPr>
            <a:endParaRPr lang="en-IN" sz="1400" dirty="0"/>
          </a:p>
          <a:p>
            <a:pPr lvl="0"/>
            <a:r>
              <a:rPr lang="en-US" dirty="0"/>
              <a:t>Initial database setup requires internet connectivity for syncing recent exam results.</a:t>
            </a:r>
            <a:endParaRPr lang="en-IN" dirty="0"/>
          </a:p>
          <a:p>
            <a:pPr lvl="0"/>
            <a:r>
              <a:rPr lang="en-US" dirty="0"/>
              <a:t>Advanced AI recommendations depend on the volume of test data recorded over time.</a:t>
            </a:r>
            <a:endParaRPr lang="en-IN" dirty="0"/>
          </a:p>
        </p:txBody>
      </p:sp>
    </p:spTree>
    <p:extLst>
      <p:ext uri="{BB962C8B-B14F-4D97-AF65-F5344CB8AC3E}">
        <p14:creationId xmlns:p14="http://schemas.microsoft.com/office/powerpoint/2010/main" val="2838326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3A51B-18E3-3E7D-7090-658C78E2B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731406-C464-2107-056E-574AEE9971C1}"/>
              </a:ext>
            </a:extLst>
          </p:cNvPr>
          <p:cNvSpPr>
            <a:spLocks noGrp="1"/>
          </p:cNvSpPr>
          <p:nvPr>
            <p:ph type="title"/>
          </p:nvPr>
        </p:nvSpPr>
        <p:spPr>
          <a:xfrm>
            <a:off x="438614" y="1427422"/>
            <a:ext cx="8266771" cy="2288656"/>
          </a:xfrm>
        </p:spPr>
        <p:txBody>
          <a:bodyPr>
            <a:noAutofit/>
          </a:bodyPr>
          <a:lstStyle/>
          <a:p>
            <a:r>
              <a:rPr lang="en-US" sz="4000" b="1" dirty="0"/>
              <a:t>2. Requirement Determination &amp; Analysis</a:t>
            </a:r>
            <a:endParaRPr lang="en-IN" sz="4000" dirty="0"/>
          </a:p>
        </p:txBody>
      </p:sp>
    </p:spTree>
    <p:extLst>
      <p:ext uri="{BB962C8B-B14F-4D97-AF65-F5344CB8AC3E}">
        <p14:creationId xmlns:p14="http://schemas.microsoft.com/office/powerpoint/2010/main" val="543763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8E157-CCDE-0642-6A2B-0A640B387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1DCB4A-EA26-C47C-94C7-F211D2A7707E}"/>
              </a:ext>
            </a:extLst>
          </p:cNvPr>
          <p:cNvSpPr>
            <a:spLocks noGrp="1"/>
          </p:cNvSpPr>
          <p:nvPr>
            <p:ph type="title"/>
          </p:nvPr>
        </p:nvSpPr>
        <p:spPr>
          <a:xfrm>
            <a:off x="599075" y="472757"/>
            <a:ext cx="7945850" cy="954600"/>
          </a:xfrm>
        </p:spPr>
        <p:txBody>
          <a:bodyPr>
            <a:normAutofit/>
          </a:bodyPr>
          <a:lstStyle/>
          <a:p>
            <a:r>
              <a:t>2.1 Requirement Determination</a:t>
            </a:r>
          </a:p>
        </p:txBody>
      </p:sp>
      <p:sp>
        <p:nvSpPr>
          <p:cNvPr id="5" name="Google Shape;149;p14">
            <a:extLst>
              <a:ext uri="{FF2B5EF4-FFF2-40B4-BE49-F238E27FC236}">
                <a16:creationId xmlns:a16="http://schemas.microsoft.com/office/drawing/2014/main" id="{481105A0-4AFE-3B94-F4A8-FDA51363D8F1}"/>
              </a:ext>
            </a:extLst>
          </p:cNvPr>
          <p:cNvSpPr txBox="1">
            <a:spLocks/>
          </p:cNvSpPr>
          <p:nvPr/>
        </p:nvSpPr>
        <p:spPr>
          <a:xfrm>
            <a:off x="599075" y="1196897"/>
            <a:ext cx="7945850" cy="3797919"/>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r>
              <a:rPr sz="1500" b="1"/>
              <a:t>Functional Requirements :-</a:t>
            </a:r>
          </a:p>
          <a:p>
            <a:pPr>
              <a:defRPr sz="400"/>
            </a:pPr>
            <a:endParaRPr sz="1500" b="1"/>
          </a:p>
          <a:p>
            <a:r>
              <a:rPr sz="1300" b="1"/>
              <a:t>1. User Authentication: </a:t>
            </a:r>
            <a:r>
              <a:rPr sz="1300" b="0"/>
              <a:t>Secure user registration and login using email/password.</a:t>
            </a:r>
          </a:p>
          <a:p>
            <a:pPr>
              <a:defRPr sz="400"/>
            </a:pPr>
            <a:endParaRPr sz="1300" b="0"/>
          </a:p>
          <a:p>
            <a:r>
              <a:rPr sz="1300" b="1"/>
              <a:t>2. Track Selection: </a:t>
            </a:r>
            <a:r>
              <a:rPr sz="1300" b="0"/>
              <a:t>Ability to switch between Placement Prep, IT Skills, and School tracks.</a:t>
            </a:r>
          </a:p>
          <a:p>
            <a:pPr>
              <a:defRPr sz="400"/>
            </a:pPr>
            <a:endParaRPr sz="1300" b="0"/>
          </a:p>
          <a:p>
            <a:r>
              <a:rPr sz="1300" b="1"/>
              <a:t>3. Company Filter: </a:t>
            </a:r>
            <a:r>
              <a:rPr sz="1300" b="0"/>
              <a:t>Filter exam questions by company tag (TCS, Infosys, Amazon, etc.).</a:t>
            </a:r>
          </a:p>
          <a:p>
            <a:pPr>
              <a:defRPr sz="400"/>
            </a:pPr>
            <a:endParaRPr sz="1300" b="0"/>
          </a:p>
          <a:p>
            <a:r>
              <a:rPr sz="1300" b="1"/>
              <a:t>4. Exam Engine: </a:t>
            </a:r>
            <a:r>
              <a:rPr sz="1300" b="0"/>
              <a:t>Conduct timed mock tests, navigate via Question Palette, record user answers, calculate score percentages, and identify weak categories.</a:t>
            </a:r>
          </a:p>
          <a:p>
            <a:pPr>
              <a:defRPr sz="400"/>
            </a:pPr>
            <a:endParaRPr sz="1300" b="0"/>
          </a:p>
          <a:p>
            <a:r>
              <a:rPr sz="1300" b="1"/>
              <a:t>5. Course Learning: </a:t>
            </a:r>
            <a:r>
              <a:rPr sz="1300" b="0"/>
              <a:t>View IT skill course catalog and play instructional video lessons.</a:t>
            </a:r>
          </a:p>
          <a:p>
            <a:pPr>
              <a:defRPr sz="400"/>
            </a:pPr>
            <a:endParaRPr sz="1300" b="0"/>
          </a:p>
          <a:p>
            <a:r>
              <a:rPr sz="1300" b="1"/>
              <a:t>6. Revision &amp; Engagement: </a:t>
            </a:r>
            <a:r>
              <a:rPr sz="1300" b="0"/>
              <a:t>Interactive flashcard flip deck and daily streak counter.</a:t>
            </a:r>
          </a:p>
        </p:txBody>
      </p:sp>
    </p:spTree>
    <p:extLst>
      <p:ext uri="{BB962C8B-B14F-4D97-AF65-F5344CB8AC3E}">
        <p14:creationId xmlns:p14="http://schemas.microsoft.com/office/powerpoint/2010/main" val="558716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9DD1F-4547-CFA3-369D-529514B6DE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89C7A-2A9D-C366-BDA5-3F677E4EDDF8}"/>
              </a:ext>
            </a:extLst>
          </p:cNvPr>
          <p:cNvSpPr>
            <a:spLocks noGrp="1"/>
          </p:cNvSpPr>
          <p:nvPr>
            <p:ph type="title"/>
          </p:nvPr>
        </p:nvSpPr>
        <p:spPr>
          <a:xfrm>
            <a:off x="542551" y="793561"/>
            <a:ext cx="7945850" cy="954600"/>
          </a:xfrm>
        </p:spPr>
        <p:txBody>
          <a:bodyPr>
            <a:normAutofit/>
          </a:bodyPr>
          <a:lstStyle/>
          <a:p>
            <a:r>
              <a:t>2.1 Requirement Determination</a:t>
            </a:r>
          </a:p>
        </p:txBody>
      </p:sp>
      <p:sp>
        <p:nvSpPr>
          <p:cNvPr id="5" name="Google Shape;149;p14">
            <a:extLst>
              <a:ext uri="{FF2B5EF4-FFF2-40B4-BE49-F238E27FC236}">
                <a16:creationId xmlns:a16="http://schemas.microsoft.com/office/drawing/2014/main" id="{F3605A71-ACC2-48F2-1827-CA7DCB31E2CB}"/>
              </a:ext>
            </a:extLst>
          </p:cNvPr>
          <p:cNvSpPr txBox="1">
            <a:spLocks/>
          </p:cNvSpPr>
          <p:nvPr/>
        </p:nvSpPr>
        <p:spPr>
          <a:xfrm>
            <a:off x="599075" y="1800200"/>
            <a:ext cx="7945850" cy="27948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pPr marL="146050" lvl="0" indent="0">
              <a:buNone/>
            </a:pPr>
            <a:r>
              <a:rPr sz="1500" b="1"/>
              <a:t>Non-Functional Requirements :-</a:t>
            </a:r>
          </a:p>
          <a:p>
            <a:pPr>
              <a:defRPr sz="600"/>
            </a:pPr>
            <a:endParaRPr sz="1500" b="1"/>
          </a:p>
          <a:p>
            <a:r>
              <a:rPr sz="1350" b="1"/>
              <a:t>1. Performance: </a:t>
            </a:r>
            <a:r>
              <a:rPr sz="1350" b="0"/>
              <a:t>Screen load times under 2 seconds; instant local exam evaluation with zero latency score calculation.</a:t>
            </a:r>
          </a:p>
          <a:p>
            <a:pPr>
              <a:defRPr sz="600"/>
            </a:pPr>
            <a:endParaRPr sz="1350" b="0"/>
          </a:p>
          <a:p>
            <a:r>
              <a:rPr sz="1350" b="1"/>
              <a:t>2. Reliability: </a:t>
            </a:r>
            <a:r>
              <a:rPr sz="1350" b="0"/>
              <a:t>Seamless offline fallback using local verified static datasets when backend REST API is unreachable.</a:t>
            </a:r>
          </a:p>
          <a:p>
            <a:pPr>
              <a:defRPr sz="600"/>
            </a:pPr>
            <a:endParaRPr sz="1350" b="0"/>
          </a:p>
          <a:p>
            <a:r>
              <a:rPr sz="1350" b="1"/>
              <a:t>3. Usability: </a:t>
            </a:r>
            <a:r>
              <a:rPr sz="1350" b="0"/>
              <a:t>Clean, accessible Material Design 3 interface with dynamic dark/light mode and intuitive student workflows.</a:t>
            </a:r>
          </a:p>
          <a:p>
            <a:pPr>
              <a:defRPr sz="600"/>
            </a:pPr>
            <a:endParaRPr sz="1350" b="0"/>
          </a:p>
          <a:p>
            <a:r>
              <a:rPr sz="1350" b="1"/>
              <a:t>4. Security: </a:t>
            </a:r>
            <a:r>
              <a:rPr sz="1350" b="0"/>
              <a:t>Encrypted user passwords (bcryptjs, salt rounds: 10) and protected REST API endpoints with JWT bearer authentication.</a:t>
            </a:r>
          </a:p>
        </p:txBody>
      </p:sp>
    </p:spTree>
    <p:extLst>
      <p:ext uri="{BB962C8B-B14F-4D97-AF65-F5344CB8AC3E}">
        <p14:creationId xmlns:p14="http://schemas.microsoft.com/office/powerpoint/2010/main" val="441431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B0872-9357-BB65-CAF8-951EF7F5C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9361CB-ED1C-92DE-6E0E-0D03238FD124}"/>
              </a:ext>
            </a:extLst>
          </p:cNvPr>
          <p:cNvSpPr>
            <a:spLocks noGrp="1"/>
          </p:cNvSpPr>
          <p:nvPr>
            <p:ph type="title"/>
          </p:nvPr>
        </p:nvSpPr>
        <p:spPr>
          <a:xfrm>
            <a:off x="542551" y="793561"/>
            <a:ext cx="7945850" cy="954600"/>
          </a:xfrm>
        </p:spPr>
        <p:txBody>
          <a:bodyPr>
            <a:normAutofit/>
          </a:bodyPr>
          <a:lstStyle/>
          <a:p>
            <a:r>
              <a:t>2.2 Targeted Users</a:t>
            </a:r>
          </a:p>
        </p:txBody>
      </p:sp>
      <p:sp>
        <p:nvSpPr>
          <p:cNvPr id="5" name="Google Shape;149;p14">
            <a:extLst>
              <a:ext uri="{FF2B5EF4-FFF2-40B4-BE49-F238E27FC236}">
                <a16:creationId xmlns:a16="http://schemas.microsoft.com/office/drawing/2014/main" id="{4B78E613-4FCE-F0B9-D0EA-E15BC8073941}"/>
              </a:ext>
            </a:extLst>
          </p:cNvPr>
          <p:cNvSpPr txBox="1">
            <a:spLocks/>
          </p:cNvSpPr>
          <p:nvPr/>
        </p:nvSpPr>
        <p:spPr>
          <a:xfrm>
            <a:off x="599075" y="1800200"/>
            <a:ext cx="7945850" cy="27948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pPr marL="146050" lvl="0" indent="0">
              <a:buNone/>
            </a:pPr>
            <a:r>
              <a:rPr sz="1500" b="1"/>
              <a:t>Targeted User Roles &amp; Personas :-</a:t>
            </a:r>
          </a:p>
          <a:p>
            <a:pPr>
              <a:defRPr sz="600"/>
            </a:pPr>
            <a:endParaRPr sz="1500" b="1"/>
          </a:p>
          <a:p>
            <a:r>
              <a:rPr sz="1350" b="1"/>
              <a:t>1. College / Placement Aspirant (Engineering Student): </a:t>
            </a:r>
            <a:r>
              <a:rPr sz="1350" b="0"/>
              <a:t>Focuses on aptitude practice, company-specific test filters (TCS, Infosys, Amazon), weak spot analytics, and countdown exam timers.</a:t>
            </a:r>
          </a:p>
          <a:p>
            <a:pPr>
              <a:defRPr sz="600"/>
            </a:pPr>
            <a:endParaRPr sz="1350" b="0"/>
          </a:p>
          <a:p>
            <a:r>
              <a:rPr sz="1350" b="1"/>
              <a:t>2. Job Seeker / IT Skill Learner: </a:t>
            </a:r>
            <a:r>
              <a:rPr sz="1350" b="0"/>
              <a:t>Focuses on technical course catalog, streaming video masterclasses, DSA &amp; full-stack development, and flashcard revision.</a:t>
            </a:r>
          </a:p>
          <a:p>
            <a:pPr>
              <a:defRPr sz="600"/>
            </a:pPr>
            <a:endParaRPr sz="1350" b="0"/>
          </a:p>
          <a:p>
            <a:r>
              <a:rPr sz="1350" b="1"/>
              <a:t>3. School &amp; Academic Student (GSEB 9-12): </a:t>
            </a:r>
            <a:r>
              <a:rPr sz="1350" b="0"/>
              <a:t>Focuses on foundational science, mathematics chapters, GSEB/NCERT textbooks, and doubt solving.</a:t>
            </a:r>
          </a:p>
        </p:txBody>
      </p:sp>
    </p:spTree>
    <p:extLst>
      <p:ext uri="{BB962C8B-B14F-4D97-AF65-F5344CB8AC3E}">
        <p14:creationId xmlns:p14="http://schemas.microsoft.com/office/powerpoint/2010/main" val="2041350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4A0FC-6B12-4D5D-4DD5-21FCC92BDA18}"/>
              </a:ext>
            </a:extLst>
          </p:cNvPr>
          <p:cNvSpPr>
            <a:spLocks noGrp="1"/>
          </p:cNvSpPr>
          <p:nvPr>
            <p:ph type="title"/>
          </p:nvPr>
        </p:nvSpPr>
        <p:spPr>
          <a:xfrm>
            <a:off x="1088485" y="1881900"/>
            <a:ext cx="6372300" cy="1379700"/>
          </a:xfrm>
        </p:spPr>
        <p:txBody>
          <a:bodyPr>
            <a:normAutofit/>
          </a:bodyPr>
          <a:lstStyle/>
          <a:p>
            <a:r>
              <a:rPr lang="en-US" sz="4000" b="1" dirty="0"/>
              <a:t>3. System Design</a:t>
            </a:r>
            <a:endParaRPr lang="en-IN" sz="4000" dirty="0"/>
          </a:p>
        </p:txBody>
      </p:sp>
    </p:spTree>
    <p:extLst>
      <p:ext uri="{BB962C8B-B14F-4D97-AF65-F5344CB8AC3E}">
        <p14:creationId xmlns:p14="http://schemas.microsoft.com/office/powerpoint/2010/main" val="3476323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FFB84-BC05-14BC-E3F7-C872D8C33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A5A2CF-1684-DDE6-5DD3-76272C9EFD23}"/>
              </a:ext>
            </a:extLst>
          </p:cNvPr>
          <p:cNvSpPr>
            <a:spLocks noGrp="1"/>
          </p:cNvSpPr>
          <p:nvPr>
            <p:ph type="title"/>
          </p:nvPr>
        </p:nvSpPr>
        <p:spPr>
          <a:xfrm>
            <a:off x="542551" y="793561"/>
            <a:ext cx="7945850" cy="954600"/>
          </a:xfrm>
        </p:spPr>
        <p:txBody>
          <a:bodyPr>
            <a:normAutofit/>
          </a:bodyPr>
          <a:lstStyle/>
          <a:p>
            <a:r>
              <a:rPr lang="en-US" b="1" dirty="0"/>
              <a:t>3.1 Use Case Diagram</a:t>
            </a:r>
            <a:endParaRPr lang="en-IN" dirty="0"/>
          </a:p>
        </p:txBody>
      </p:sp>
      <p:sp>
        <p:nvSpPr>
          <p:cNvPr id="5" name="Google Shape;149;p14">
            <a:extLst>
              <a:ext uri="{FF2B5EF4-FFF2-40B4-BE49-F238E27FC236}">
                <a16:creationId xmlns:a16="http://schemas.microsoft.com/office/drawing/2014/main" id="{9BFA4DBC-51D8-AE93-5B3F-841B6211CDC7}"/>
              </a:ext>
            </a:extLst>
          </p:cNvPr>
          <p:cNvSpPr txBox="1">
            <a:spLocks/>
          </p:cNvSpPr>
          <p:nvPr/>
        </p:nvSpPr>
        <p:spPr>
          <a:xfrm>
            <a:off x="599075" y="1800200"/>
            <a:ext cx="2961881" cy="1240366"/>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r>
              <a:rPr lang="en-US" sz="1400" dirty="0"/>
              <a:t>The following UML Use Case </a:t>
            </a:r>
          </a:p>
          <a:p>
            <a:pPr marL="146050" indent="0">
              <a:buNone/>
            </a:pPr>
            <a:r>
              <a:rPr lang="en-US" sz="1400" dirty="0"/>
              <a:t>Diagram illustrates the interaction </a:t>
            </a:r>
          </a:p>
          <a:p>
            <a:pPr marL="146050" indent="0">
              <a:buNone/>
            </a:pPr>
            <a:r>
              <a:rPr lang="en-US" sz="1400" dirty="0"/>
              <a:t>between each User Role and the</a:t>
            </a:r>
          </a:p>
          <a:p>
            <a:pPr marL="146050" indent="0">
              <a:buNone/>
            </a:pPr>
            <a:r>
              <a:rPr lang="en-US" sz="1400" dirty="0" err="1"/>
              <a:t>MindSprint</a:t>
            </a:r>
            <a:r>
              <a:rPr lang="en-US" sz="1400" dirty="0"/>
              <a:t> System :-</a:t>
            </a:r>
            <a:endParaRPr lang="en-IN" sz="1400" dirty="0"/>
          </a:p>
        </p:txBody>
      </p:sp>
      <p:pic>
        <p:nvPicPr>
          <p:cNvPr id="3" name="Picture 2">
            <a:extLst>
              <a:ext uri="{FF2B5EF4-FFF2-40B4-BE49-F238E27FC236}">
                <a16:creationId xmlns:a16="http://schemas.microsoft.com/office/drawing/2014/main" id="{5DA35833-F64C-ECDD-6583-1DB821FA9D39}"/>
              </a:ext>
            </a:extLst>
          </p:cNvPr>
          <p:cNvPicPr>
            <a:picLocks noChangeAspect="1"/>
          </p:cNvPicPr>
          <p:nvPr/>
        </p:nvPicPr>
        <p:blipFill>
          <a:blip r:embed="rId2"/>
          <a:stretch>
            <a:fillRect/>
          </a:stretch>
        </p:blipFill>
        <p:spPr>
          <a:xfrm>
            <a:off x="3382537" y="1360450"/>
            <a:ext cx="5263517" cy="3546088"/>
          </a:xfrm>
          <a:prstGeom prst="rect">
            <a:avLst/>
          </a:prstGeom>
          <a:ln>
            <a:solidFill>
              <a:schemeClr val="bg2"/>
            </a:solidFill>
          </a:ln>
        </p:spPr>
      </p:pic>
    </p:spTree>
    <p:extLst>
      <p:ext uri="{BB962C8B-B14F-4D97-AF65-F5344CB8AC3E}">
        <p14:creationId xmlns:p14="http://schemas.microsoft.com/office/powerpoint/2010/main" val="3084578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9D5AF-9328-0CD4-B48D-DF4E86A22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92DFC-9DA9-4823-05FA-CB2DBDF12CFF}"/>
              </a:ext>
            </a:extLst>
          </p:cNvPr>
          <p:cNvSpPr>
            <a:spLocks noGrp="1"/>
          </p:cNvSpPr>
          <p:nvPr>
            <p:ph type="title"/>
          </p:nvPr>
        </p:nvSpPr>
        <p:spPr>
          <a:xfrm>
            <a:off x="542551" y="615142"/>
            <a:ext cx="7945850" cy="954600"/>
          </a:xfrm>
        </p:spPr>
        <p:txBody>
          <a:bodyPr>
            <a:normAutofit/>
          </a:bodyPr>
          <a:lstStyle/>
          <a:p>
            <a:r>
              <a:rPr lang="en-US" b="1" dirty="0"/>
              <a:t>3.2 Class Diagram</a:t>
            </a:r>
            <a:endParaRPr lang="en-IN" dirty="0"/>
          </a:p>
        </p:txBody>
      </p:sp>
      <p:pic>
        <p:nvPicPr>
          <p:cNvPr id="4" name="Picture 3">
            <a:extLst>
              <a:ext uri="{FF2B5EF4-FFF2-40B4-BE49-F238E27FC236}">
                <a16:creationId xmlns:a16="http://schemas.microsoft.com/office/drawing/2014/main" id="{99132A2B-FB27-88D2-07E9-82A361CF4D8A}"/>
              </a:ext>
            </a:extLst>
          </p:cNvPr>
          <p:cNvPicPr>
            <a:picLocks noChangeAspect="1"/>
          </p:cNvPicPr>
          <p:nvPr/>
        </p:nvPicPr>
        <p:blipFill>
          <a:blip r:embed="rId2"/>
          <a:stretch>
            <a:fillRect/>
          </a:stretch>
        </p:blipFill>
        <p:spPr>
          <a:xfrm>
            <a:off x="2076307" y="1344443"/>
            <a:ext cx="5120640" cy="3429000"/>
          </a:xfrm>
          <a:prstGeom prst="rect">
            <a:avLst/>
          </a:prstGeom>
          <a:ln>
            <a:solidFill>
              <a:schemeClr val="bg2"/>
            </a:solidFill>
          </a:ln>
        </p:spPr>
      </p:pic>
    </p:spTree>
    <p:extLst>
      <p:ext uri="{BB962C8B-B14F-4D97-AF65-F5344CB8AC3E}">
        <p14:creationId xmlns:p14="http://schemas.microsoft.com/office/powerpoint/2010/main" val="1726594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CE5CC-A38C-428D-DB81-437607005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4E038-546D-C142-2F9A-1E4B91C2BFCF}"/>
              </a:ext>
            </a:extLst>
          </p:cNvPr>
          <p:cNvSpPr>
            <a:spLocks noGrp="1"/>
          </p:cNvSpPr>
          <p:nvPr>
            <p:ph type="title"/>
          </p:nvPr>
        </p:nvSpPr>
        <p:spPr>
          <a:xfrm>
            <a:off x="542551" y="615142"/>
            <a:ext cx="7945850" cy="954600"/>
          </a:xfrm>
        </p:spPr>
        <p:txBody>
          <a:bodyPr>
            <a:normAutofit fontScale="90000"/>
          </a:bodyPr>
          <a:lstStyle/>
          <a:p>
            <a:r>
              <a:rPr lang="en-US" b="1" dirty="0"/>
              <a:t>3.3 Interaction Diagram (Sequence Diagram)</a:t>
            </a:r>
            <a:endParaRPr lang="en-IN" dirty="0"/>
          </a:p>
        </p:txBody>
      </p:sp>
      <p:pic>
        <p:nvPicPr>
          <p:cNvPr id="3" name="Picture 2">
            <a:extLst>
              <a:ext uri="{FF2B5EF4-FFF2-40B4-BE49-F238E27FC236}">
                <a16:creationId xmlns:a16="http://schemas.microsoft.com/office/drawing/2014/main" id="{40E048F1-8FED-3436-1685-32F3EFB27397}"/>
              </a:ext>
            </a:extLst>
          </p:cNvPr>
          <p:cNvPicPr>
            <a:picLocks noChangeAspect="1"/>
          </p:cNvPicPr>
          <p:nvPr/>
        </p:nvPicPr>
        <p:blipFill>
          <a:blip r:embed="rId2"/>
          <a:stretch>
            <a:fillRect/>
          </a:stretch>
        </p:blipFill>
        <p:spPr>
          <a:xfrm>
            <a:off x="1863716" y="1433477"/>
            <a:ext cx="5303520" cy="2962656"/>
          </a:xfrm>
          <a:prstGeom prst="rect">
            <a:avLst/>
          </a:prstGeom>
          <a:ln>
            <a:solidFill>
              <a:schemeClr val="bg2"/>
            </a:solidFill>
          </a:ln>
        </p:spPr>
      </p:pic>
    </p:spTree>
    <p:extLst>
      <p:ext uri="{BB962C8B-B14F-4D97-AF65-F5344CB8AC3E}">
        <p14:creationId xmlns:p14="http://schemas.microsoft.com/office/powerpoint/2010/main" val="182516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AF8A5-09A6-33EE-52F1-8A3BD31B93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D81B40-01BC-50DD-D064-A46AAA7994F1}"/>
              </a:ext>
            </a:extLst>
          </p:cNvPr>
          <p:cNvSpPr>
            <a:spLocks noGrp="1"/>
          </p:cNvSpPr>
          <p:nvPr>
            <p:ph type="title"/>
          </p:nvPr>
        </p:nvSpPr>
        <p:spPr>
          <a:xfrm>
            <a:off x="542551" y="615142"/>
            <a:ext cx="7945850" cy="954600"/>
          </a:xfrm>
        </p:spPr>
        <p:txBody>
          <a:bodyPr>
            <a:normAutofit/>
          </a:bodyPr>
          <a:lstStyle/>
          <a:p>
            <a:r>
              <a:rPr lang="en-US" b="1" dirty="0"/>
              <a:t>3.4 Activity Diagram</a:t>
            </a:r>
            <a:endParaRPr lang="en-IN" dirty="0"/>
          </a:p>
        </p:txBody>
      </p:sp>
      <p:sp>
        <p:nvSpPr>
          <p:cNvPr id="5" name="Google Shape;149;p14">
            <a:extLst>
              <a:ext uri="{FF2B5EF4-FFF2-40B4-BE49-F238E27FC236}">
                <a16:creationId xmlns:a16="http://schemas.microsoft.com/office/drawing/2014/main" id="{E86D9B8B-9365-CEC5-5866-627237F7507F}"/>
              </a:ext>
            </a:extLst>
          </p:cNvPr>
          <p:cNvSpPr txBox="1">
            <a:spLocks/>
          </p:cNvSpPr>
          <p:nvPr/>
        </p:nvSpPr>
        <p:spPr>
          <a:xfrm>
            <a:off x="548640" y="1097280"/>
            <a:ext cx="5852160" cy="347472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pPr>
              <a:defRPr sz="1400" b="1"/>
            </a:pPr>
            <a:endParaRPr sz="1250" b="0" dirty="0"/>
          </a:p>
        </p:txBody>
      </p:sp>
      <p:pic>
        <p:nvPicPr>
          <p:cNvPr id="4" name="Picture 3">
            <a:extLst>
              <a:ext uri="{FF2B5EF4-FFF2-40B4-BE49-F238E27FC236}">
                <a16:creationId xmlns:a16="http://schemas.microsoft.com/office/drawing/2014/main" id="{B082FED9-CCF6-B080-5F72-FA8B1ED556B2}"/>
              </a:ext>
            </a:extLst>
          </p:cNvPr>
          <p:cNvPicPr>
            <a:picLocks noChangeAspect="1"/>
          </p:cNvPicPr>
          <p:nvPr/>
        </p:nvPicPr>
        <p:blipFill>
          <a:blip r:embed="rId2"/>
          <a:stretch>
            <a:fillRect/>
          </a:stretch>
        </p:blipFill>
        <p:spPr>
          <a:xfrm>
            <a:off x="3180462" y="1166032"/>
            <a:ext cx="1938528" cy="3474720"/>
          </a:xfrm>
          <a:prstGeom prst="rect">
            <a:avLst/>
          </a:prstGeom>
        </p:spPr>
      </p:pic>
    </p:spTree>
    <p:extLst>
      <p:ext uri="{BB962C8B-B14F-4D97-AF65-F5344CB8AC3E}">
        <p14:creationId xmlns:p14="http://schemas.microsoft.com/office/powerpoint/2010/main" val="1596571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A44AA-2385-4112-6C8E-217C1B1A3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1D50F-A33D-3761-A555-0ABEAF46B63D}"/>
              </a:ext>
            </a:extLst>
          </p:cNvPr>
          <p:cNvSpPr>
            <a:spLocks noGrp="1"/>
          </p:cNvSpPr>
          <p:nvPr>
            <p:ph type="title"/>
          </p:nvPr>
        </p:nvSpPr>
        <p:spPr>
          <a:xfrm>
            <a:off x="542551" y="615142"/>
            <a:ext cx="7945850" cy="954600"/>
          </a:xfrm>
        </p:spPr>
        <p:txBody>
          <a:bodyPr>
            <a:normAutofit/>
          </a:bodyPr>
          <a:lstStyle/>
          <a:p>
            <a:r>
              <a:rPr lang="en-US" b="1" dirty="0"/>
              <a:t>3.5 Data Dictionary</a:t>
            </a:r>
            <a:endParaRPr lang="en-IN" dirty="0"/>
          </a:p>
        </p:txBody>
      </p:sp>
      <p:sp>
        <p:nvSpPr>
          <p:cNvPr id="5" name="Google Shape;149;p14">
            <a:extLst>
              <a:ext uri="{FF2B5EF4-FFF2-40B4-BE49-F238E27FC236}">
                <a16:creationId xmlns:a16="http://schemas.microsoft.com/office/drawing/2014/main" id="{4FCBE286-3627-A2D2-FE5A-D529F3DF5F88}"/>
              </a:ext>
            </a:extLst>
          </p:cNvPr>
          <p:cNvSpPr txBox="1">
            <a:spLocks/>
          </p:cNvSpPr>
          <p:nvPr/>
        </p:nvSpPr>
        <p:spPr>
          <a:xfrm>
            <a:off x="241762" y="1569742"/>
            <a:ext cx="2909842" cy="452346"/>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r>
              <a:rPr lang="en-US" b="1" dirty="0"/>
              <a:t>Table 1: User Schema (users)</a:t>
            </a:r>
            <a:endParaRPr lang="en-IN" dirty="0"/>
          </a:p>
        </p:txBody>
      </p:sp>
      <p:graphicFrame>
        <p:nvGraphicFramePr>
          <p:cNvPr id="8" name="Table 7">
            <a:extLst>
              <a:ext uri="{FF2B5EF4-FFF2-40B4-BE49-F238E27FC236}">
                <a16:creationId xmlns:a16="http://schemas.microsoft.com/office/drawing/2014/main" id="{EC74302B-5631-5812-064E-8254BB064883}"/>
              </a:ext>
            </a:extLst>
          </p:cNvPr>
          <p:cNvGraphicFramePr>
            <a:graphicFrameLocks noGrp="1"/>
          </p:cNvGraphicFramePr>
          <p:nvPr>
            <p:extLst>
              <p:ext uri="{D42A27DB-BD31-4B8C-83A1-F6EECF244321}">
                <p14:modId xmlns:p14="http://schemas.microsoft.com/office/powerpoint/2010/main" val="2217383273"/>
              </p:ext>
            </p:extLst>
          </p:nvPr>
        </p:nvGraphicFramePr>
        <p:xfrm>
          <a:off x="1283320" y="2265223"/>
          <a:ext cx="6455628" cy="1853297"/>
        </p:xfrm>
        <a:graphic>
          <a:graphicData uri="http://schemas.openxmlformats.org/drawingml/2006/table">
            <a:tbl>
              <a:tblPr firstRow="1" firstCol="1" bandRow="1">
                <a:tableStyleId>{F2DE63D5-997A-4646-A377-4702673A728D}</a:tableStyleId>
              </a:tblPr>
              <a:tblGrid>
                <a:gridCol w="1613907">
                  <a:extLst>
                    <a:ext uri="{9D8B030D-6E8A-4147-A177-3AD203B41FA5}">
                      <a16:colId xmlns:a16="http://schemas.microsoft.com/office/drawing/2014/main" val="107040722"/>
                    </a:ext>
                  </a:extLst>
                </a:gridCol>
                <a:gridCol w="1613907">
                  <a:extLst>
                    <a:ext uri="{9D8B030D-6E8A-4147-A177-3AD203B41FA5}">
                      <a16:colId xmlns:a16="http://schemas.microsoft.com/office/drawing/2014/main" val="2938737188"/>
                    </a:ext>
                  </a:extLst>
                </a:gridCol>
                <a:gridCol w="1613907">
                  <a:extLst>
                    <a:ext uri="{9D8B030D-6E8A-4147-A177-3AD203B41FA5}">
                      <a16:colId xmlns:a16="http://schemas.microsoft.com/office/drawing/2014/main" val="2781936327"/>
                    </a:ext>
                  </a:extLst>
                </a:gridCol>
                <a:gridCol w="1613907">
                  <a:extLst>
                    <a:ext uri="{9D8B030D-6E8A-4147-A177-3AD203B41FA5}">
                      <a16:colId xmlns:a16="http://schemas.microsoft.com/office/drawing/2014/main" val="1018371426"/>
                    </a:ext>
                  </a:extLst>
                </a:gridCol>
              </a:tblGrid>
              <a:tr h="229683">
                <a:tc>
                  <a:txBody>
                    <a:bodyPr/>
                    <a:lstStyle/>
                    <a:p>
                      <a:pPr algn="ctr">
                        <a:lnSpc>
                          <a:spcPct val="115000"/>
                        </a:lnSpc>
                        <a:spcAft>
                          <a:spcPts val="1000"/>
                        </a:spcAft>
                        <a:buNone/>
                      </a:pPr>
                      <a:r>
                        <a:rPr lang="en-US" sz="1050" dirty="0">
                          <a:solidFill>
                            <a:schemeClr val="bg2"/>
                          </a:solidFill>
                          <a:effectLst/>
                        </a:rPr>
                        <a:t>Field Name</a:t>
                      </a:r>
                      <a:endParaRPr lang="en-IN" sz="12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accent3">
                        <a:lumMod val="60000"/>
                        <a:lumOff val="40000"/>
                      </a:schemeClr>
                    </a:solidFill>
                  </a:tcPr>
                </a:tc>
                <a:tc>
                  <a:txBody>
                    <a:bodyPr/>
                    <a:lstStyle/>
                    <a:p>
                      <a:pPr algn="ctr">
                        <a:lnSpc>
                          <a:spcPct val="115000"/>
                        </a:lnSpc>
                        <a:spcAft>
                          <a:spcPts val="1000"/>
                        </a:spcAft>
                        <a:buNone/>
                      </a:pPr>
                      <a:r>
                        <a:rPr lang="en-US" sz="1050" dirty="0">
                          <a:solidFill>
                            <a:schemeClr val="bg2"/>
                          </a:solidFill>
                          <a:effectLst/>
                        </a:rPr>
                        <a:t>Data Type</a:t>
                      </a:r>
                      <a:endParaRPr lang="en-IN" sz="12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accent3">
                        <a:lumMod val="60000"/>
                        <a:lumOff val="40000"/>
                      </a:schemeClr>
                    </a:solidFill>
                  </a:tcPr>
                </a:tc>
                <a:tc>
                  <a:txBody>
                    <a:bodyPr/>
                    <a:lstStyle/>
                    <a:p>
                      <a:pPr algn="ctr">
                        <a:lnSpc>
                          <a:spcPct val="115000"/>
                        </a:lnSpc>
                        <a:spcAft>
                          <a:spcPts val="1000"/>
                        </a:spcAft>
                        <a:buNone/>
                      </a:pPr>
                      <a:r>
                        <a:rPr lang="en-US" sz="1050" dirty="0">
                          <a:solidFill>
                            <a:schemeClr val="bg2"/>
                          </a:solidFill>
                          <a:effectLst/>
                        </a:rPr>
                        <a:t>Constraint</a:t>
                      </a:r>
                      <a:endParaRPr lang="en-IN" sz="12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accent3">
                        <a:lumMod val="60000"/>
                        <a:lumOff val="40000"/>
                      </a:schemeClr>
                    </a:solidFill>
                  </a:tcPr>
                </a:tc>
                <a:tc>
                  <a:txBody>
                    <a:bodyPr/>
                    <a:lstStyle/>
                    <a:p>
                      <a:pPr algn="ctr">
                        <a:lnSpc>
                          <a:spcPct val="115000"/>
                        </a:lnSpc>
                        <a:spcAft>
                          <a:spcPts val="1000"/>
                        </a:spcAft>
                        <a:buNone/>
                      </a:pPr>
                      <a:r>
                        <a:rPr lang="en-US" sz="1050" dirty="0">
                          <a:solidFill>
                            <a:schemeClr val="bg2"/>
                          </a:solidFill>
                          <a:effectLst/>
                        </a:rPr>
                        <a:t>Description</a:t>
                      </a:r>
                      <a:endParaRPr lang="en-IN" sz="12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900684124"/>
                  </a:ext>
                </a:extLst>
              </a:tr>
              <a:tr h="229683">
                <a:tc>
                  <a:txBody>
                    <a:bodyPr/>
                    <a:lstStyle/>
                    <a:p>
                      <a:pPr algn="ctr">
                        <a:lnSpc>
                          <a:spcPct val="115000"/>
                        </a:lnSpc>
                        <a:spcAft>
                          <a:spcPts val="1000"/>
                        </a:spcAft>
                        <a:buNone/>
                      </a:pPr>
                      <a:r>
                        <a:rPr lang="en-US" sz="1000" dirty="0">
                          <a:solidFill>
                            <a:schemeClr val="bg2"/>
                          </a:solidFill>
                          <a:effectLst/>
                        </a:rPr>
                        <a:t>_id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tx1"/>
                    </a:solidFill>
                  </a:tcPr>
                </a:tc>
                <a:tc>
                  <a:txBody>
                    <a:bodyPr/>
                    <a:lstStyle/>
                    <a:p>
                      <a:pPr algn="ctr">
                        <a:lnSpc>
                          <a:spcPct val="115000"/>
                        </a:lnSpc>
                        <a:spcAft>
                          <a:spcPts val="1000"/>
                        </a:spcAft>
                        <a:buNone/>
                      </a:pPr>
                      <a:r>
                        <a:rPr lang="en-US" sz="1000" dirty="0" err="1">
                          <a:solidFill>
                            <a:schemeClr val="bg2"/>
                          </a:solidFill>
                          <a:effectLst/>
                        </a:rPr>
                        <a:t>ObjectId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Primary Key</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Unique user identifier</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3793695284"/>
                  </a:ext>
                </a:extLst>
              </a:tr>
              <a:tr h="229683">
                <a:tc>
                  <a:txBody>
                    <a:bodyPr/>
                    <a:lstStyle/>
                    <a:p>
                      <a:pPr algn="ctr">
                        <a:lnSpc>
                          <a:spcPct val="115000"/>
                        </a:lnSpc>
                        <a:spcAft>
                          <a:spcPts val="1000"/>
                        </a:spcAft>
                        <a:buNone/>
                      </a:pPr>
                      <a:r>
                        <a:rPr lang="en-US" sz="1000" dirty="0">
                          <a:solidFill>
                            <a:schemeClr val="bg2"/>
                          </a:solidFill>
                          <a:effectLst/>
                        </a:rPr>
                        <a:t>name</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tx1"/>
                    </a:solidFill>
                  </a:tcPr>
                </a:tc>
                <a:tc>
                  <a:txBody>
                    <a:bodyPr/>
                    <a:lstStyle/>
                    <a:p>
                      <a:pPr algn="ctr">
                        <a:lnSpc>
                          <a:spcPct val="115000"/>
                        </a:lnSpc>
                        <a:spcAft>
                          <a:spcPts val="1000"/>
                        </a:spcAft>
                        <a:buNone/>
                      </a:pPr>
                      <a:r>
                        <a:rPr lang="en-US" sz="1000" dirty="0">
                          <a:solidFill>
                            <a:schemeClr val="bg2"/>
                          </a:solidFill>
                          <a:effectLst/>
                        </a:rPr>
                        <a:t>String</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Required</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Full name of user</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1324441720"/>
                  </a:ext>
                </a:extLst>
              </a:tr>
              <a:tr h="229683">
                <a:tc>
                  <a:txBody>
                    <a:bodyPr/>
                    <a:lstStyle/>
                    <a:p>
                      <a:pPr algn="ctr">
                        <a:lnSpc>
                          <a:spcPct val="115000"/>
                        </a:lnSpc>
                        <a:spcAft>
                          <a:spcPts val="1000"/>
                        </a:spcAft>
                        <a:buNone/>
                      </a:pPr>
                      <a:r>
                        <a:rPr lang="en-US" sz="1000" dirty="0">
                          <a:solidFill>
                            <a:schemeClr val="bg2"/>
                          </a:solidFill>
                          <a:effectLst/>
                        </a:rPr>
                        <a:t>email</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tx1"/>
                    </a:solidFill>
                  </a:tcPr>
                </a:tc>
                <a:tc>
                  <a:txBody>
                    <a:bodyPr/>
                    <a:lstStyle/>
                    <a:p>
                      <a:pPr algn="ctr">
                        <a:lnSpc>
                          <a:spcPct val="115000"/>
                        </a:lnSpc>
                        <a:spcAft>
                          <a:spcPts val="1000"/>
                        </a:spcAft>
                        <a:buNone/>
                      </a:pPr>
                      <a:r>
                        <a:rPr lang="en-US" sz="1000" dirty="0">
                          <a:solidFill>
                            <a:schemeClr val="bg2"/>
                          </a:solidFill>
                          <a:effectLst/>
                        </a:rPr>
                        <a:t>String</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Unique, Required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User email address</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3562045508"/>
                  </a:ext>
                </a:extLst>
              </a:tr>
              <a:tr h="229683">
                <a:tc>
                  <a:txBody>
                    <a:bodyPr/>
                    <a:lstStyle/>
                    <a:p>
                      <a:pPr algn="ctr">
                        <a:lnSpc>
                          <a:spcPct val="115000"/>
                        </a:lnSpc>
                        <a:spcAft>
                          <a:spcPts val="1000"/>
                        </a:spcAft>
                        <a:buNone/>
                      </a:pPr>
                      <a:r>
                        <a:rPr lang="en-US" sz="1000" dirty="0">
                          <a:solidFill>
                            <a:schemeClr val="bg2"/>
                          </a:solidFill>
                          <a:effectLst/>
                        </a:rPr>
                        <a:t>password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tx1"/>
                    </a:solidFill>
                  </a:tcPr>
                </a:tc>
                <a:tc>
                  <a:txBody>
                    <a:bodyPr/>
                    <a:lstStyle/>
                    <a:p>
                      <a:pPr algn="ctr">
                        <a:lnSpc>
                          <a:spcPct val="115000"/>
                        </a:lnSpc>
                        <a:spcAft>
                          <a:spcPts val="1000"/>
                        </a:spcAft>
                        <a:buNone/>
                      </a:pPr>
                      <a:r>
                        <a:rPr lang="en-US" sz="1000" dirty="0">
                          <a:solidFill>
                            <a:schemeClr val="bg2"/>
                          </a:solidFill>
                          <a:effectLst/>
                        </a:rPr>
                        <a:t>String</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Required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Encrypted password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696553412"/>
                  </a:ext>
                </a:extLst>
              </a:tr>
              <a:tr h="229683">
                <a:tc>
                  <a:txBody>
                    <a:bodyPr/>
                    <a:lstStyle/>
                    <a:p>
                      <a:pPr algn="ctr">
                        <a:lnSpc>
                          <a:spcPct val="115000"/>
                        </a:lnSpc>
                        <a:spcAft>
                          <a:spcPts val="1000"/>
                        </a:spcAft>
                        <a:buNone/>
                      </a:pPr>
                      <a:r>
                        <a:rPr lang="en-US" sz="1000" dirty="0" err="1">
                          <a:solidFill>
                            <a:schemeClr val="bg2"/>
                          </a:solidFill>
                          <a:effectLst/>
                        </a:rPr>
                        <a:t>streakCount</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tx1"/>
                    </a:solidFill>
                  </a:tcPr>
                </a:tc>
                <a:tc>
                  <a:txBody>
                    <a:bodyPr/>
                    <a:lstStyle/>
                    <a:p>
                      <a:pPr algn="ctr">
                        <a:lnSpc>
                          <a:spcPct val="115000"/>
                        </a:lnSpc>
                        <a:spcAft>
                          <a:spcPts val="1000"/>
                        </a:spcAft>
                        <a:buNone/>
                      </a:pPr>
                      <a:r>
                        <a:rPr lang="en-US" sz="1000" dirty="0">
                          <a:solidFill>
                            <a:schemeClr val="bg2"/>
                          </a:solidFill>
                          <a:effectLst/>
                        </a:rPr>
                        <a:t>Number</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Default: 1</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Consecutive study days</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2593619033"/>
                  </a:ext>
                </a:extLst>
              </a:tr>
              <a:tr h="475199">
                <a:tc>
                  <a:txBody>
                    <a:bodyPr/>
                    <a:lstStyle/>
                    <a:p>
                      <a:pPr algn="ctr">
                        <a:lnSpc>
                          <a:spcPct val="115000"/>
                        </a:lnSpc>
                        <a:spcAft>
                          <a:spcPts val="1000"/>
                        </a:spcAft>
                        <a:buNone/>
                      </a:pPr>
                      <a:r>
                        <a:rPr lang="en-US" sz="1000" dirty="0" err="1">
                          <a:solidFill>
                            <a:schemeClr val="bg2"/>
                          </a:solidFill>
                          <a:effectLst/>
                        </a:rPr>
                        <a:t>createdAt</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tx1"/>
                    </a:solidFill>
                  </a:tcPr>
                </a:tc>
                <a:tc>
                  <a:txBody>
                    <a:bodyPr/>
                    <a:lstStyle/>
                    <a:p>
                      <a:pPr algn="ctr">
                        <a:lnSpc>
                          <a:spcPct val="115000"/>
                        </a:lnSpc>
                        <a:spcAft>
                          <a:spcPts val="1000"/>
                        </a:spcAft>
                        <a:buNone/>
                      </a:pPr>
                      <a:r>
                        <a:rPr lang="en-US" sz="1000" dirty="0">
                          <a:solidFill>
                            <a:schemeClr val="bg2"/>
                          </a:solidFill>
                          <a:effectLst/>
                        </a:rPr>
                        <a:t>Date</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Default: Now</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Account creation timestamp</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813429774"/>
                  </a:ext>
                </a:extLst>
              </a:tr>
            </a:tbl>
          </a:graphicData>
        </a:graphic>
      </p:graphicFrame>
    </p:spTree>
    <p:extLst>
      <p:ext uri="{BB962C8B-B14F-4D97-AF65-F5344CB8AC3E}">
        <p14:creationId xmlns:p14="http://schemas.microsoft.com/office/powerpoint/2010/main" val="8942980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C34BC-E32C-8BCE-C407-01954CDA83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75585-4472-7A27-17F6-92222D5FA722}"/>
              </a:ext>
            </a:extLst>
          </p:cNvPr>
          <p:cNvSpPr>
            <a:spLocks noGrp="1"/>
          </p:cNvSpPr>
          <p:nvPr>
            <p:ph type="title"/>
          </p:nvPr>
        </p:nvSpPr>
        <p:spPr>
          <a:xfrm>
            <a:off x="542551" y="615142"/>
            <a:ext cx="7945850" cy="954600"/>
          </a:xfrm>
        </p:spPr>
        <p:txBody>
          <a:bodyPr>
            <a:normAutofit/>
          </a:bodyPr>
          <a:lstStyle/>
          <a:p>
            <a:r>
              <a:rPr lang="en-US" b="1" dirty="0"/>
              <a:t>3.5 Data Dictionary</a:t>
            </a:r>
            <a:endParaRPr lang="en-IN" dirty="0"/>
          </a:p>
        </p:txBody>
      </p:sp>
      <p:sp>
        <p:nvSpPr>
          <p:cNvPr id="5" name="Google Shape;149;p14">
            <a:extLst>
              <a:ext uri="{FF2B5EF4-FFF2-40B4-BE49-F238E27FC236}">
                <a16:creationId xmlns:a16="http://schemas.microsoft.com/office/drawing/2014/main" id="{CE126208-7F93-3775-4AAA-CC381414FAE6}"/>
              </a:ext>
            </a:extLst>
          </p:cNvPr>
          <p:cNvSpPr txBox="1">
            <a:spLocks/>
          </p:cNvSpPr>
          <p:nvPr/>
        </p:nvSpPr>
        <p:spPr>
          <a:xfrm>
            <a:off x="241761" y="1569742"/>
            <a:ext cx="3757809" cy="452346"/>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r>
              <a:rPr lang="en-US" b="1" dirty="0"/>
              <a:t>Table 2: Question Schema (questions)</a:t>
            </a:r>
            <a:endParaRPr lang="en-IN" dirty="0"/>
          </a:p>
        </p:txBody>
      </p:sp>
      <p:graphicFrame>
        <p:nvGraphicFramePr>
          <p:cNvPr id="3" name="Table 2">
            <a:extLst>
              <a:ext uri="{FF2B5EF4-FFF2-40B4-BE49-F238E27FC236}">
                <a16:creationId xmlns:a16="http://schemas.microsoft.com/office/drawing/2014/main" id="{59433E83-E981-0498-F4B8-FA27644DFE1C}"/>
              </a:ext>
            </a:extLst>
          </p:cNvPr>
          <p:cNvGraphicFramePr>
            <a:graphicFrameLocks noGrp="1"/>
          </p:cNvGraphicFramePr>
          <p:nvPr>
            <p:extLst>
              <p:ext uri="{D42A27DB-BD31-4B8C-83A1-F6EECF244321}">
                <p14:modId xmlns:p14="http://schemas.microsoft.com/office/powerpoint/2010/main" val="2208787831"/>
              </p:ext>
            </p:extLst>
          </p:nvPr>
        </p:nvGraphicFramePr>
        <p:xfrm>
          <a:off x="1405214" y="2089962"/>
          <a:ext cx="6220524" cy="2288752"/>
        </p:xfrm>
        <a:graphic>
          <a:graphicData uri="http://schemas.openxmlformats.org/drawingml/2006/table">
            <a:tbl>
              <a:tblPr firstRow="1" firstCol="1" bandRow="1">
                <a:tableStyleId>{F2DE63D5-997A-4646-A377-4702673A728D}</a:tableStyleId>
              </a:tblPr>
              <a:tblGrid>
                <a:gridCol w="1555131">
                  <a:extLst>
                    <a:ext uri="{9D8B030D-6E8A-4147-A177-3AD203B41FA5}">
                      <a16:colId xmlns:a16="http://schemas.microsoft.com/office/drawing/2014/main" val="2535320104"/>
                    </a:ext>
                  </a:extLst>
                </a:gridCol>
                <a:gridCol w="1555131">
                  <a:extLst>
                    <a:ext uri="{9D8B030D-6E8A-4147-A177-3AD203B41FA5}">
                      <a16:colId xmlns:a16="http://schemas.microsoft.com/office/drawing/2014/main" val="2661662758"/>
                    </a:ext>
                  </a:extLst>
                </a:gridCol>
                <a:gridCol w="1555131">
                  <a:extLst>
                    <a:ext uri="{9D8B030D-6E8A-4147-A177-3AD203B41FA5}">
                      <a16:colId xmlns:a16="http://schemas.microsoft.com/office/drawing/2014/main" val="2612369767"/>
                    </a:ext>
                  </a:extLst>
                </a:gridCol>
                <a:gridCol w="1555131">
                  <a:extLst>
                    <a:ext uri="{9D8B030D-6E8A-4147-A177-3AD203B41FA5}">
                      <a16:colId xmlns:a16="http://schemas.microsoft.com/office/drawing/2014/main" val="2713028314"/>
                    </a:ext>
                  </a:extLst>
                </a:gridCol>
              </a:tblGrid>
              <a:tr h="202980">
                <a:tc>
                  <a:txBody>
                    <a:bodyPr/>
                    <a:lstStyle/>
                    <a:p>
                      <a:pPr algn="ctr">
                        <a:lnSpc>
                          <a:spcPct val="115000"/>
                        </a:lnSpc>
                        <a:spcAft>
                          <a:spcPts val="1000"/>
                        </a:spcAft>
                        <a:buNone/>
                      </a:pPr>
                      <a:r>
                        <a:rPr lang="en-US" sz="1050" dirty="0">
                          <a:solidFill>
                            <a:schemeClr val="bg2"/>
                          </a:solidFill>
                          <a:effectLst/>
                        </a:rPr>
                        <a:t>Field Name</a:t>
                      </a:r>
                      <a:endParaRPr lang="en-IN" sz="12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accent3">
                        <a:lumMod val="60000"/>
                        <a:lumOff val="40000"/>
                      </a:schemeClr>
                    </a:solidFill>
                  </a:tcPr>
                </a:tc>
                <a:tc>
                  <a:txBody>
                    <a:bodyPr/>
                    <a:lstStyle/>
                    <a:p>
                      <a:pPr algn="ctr">
                        <a:lnSpc>
                          <a:spcPct val="115000"/>
                        </a:lnSpc>
                        <a:spcAft>
                          <a:spcPts val="1000"/>
                        </a:spcAft>
                        <a:buNone/>
                      </a:pPr>
                      <a:r>
                        <a:rPr lang="en-US" sz="1050" dirty="0">
                          <a:solidFill>
                            <a:schemeClr val="bg2"/>
                          </a:solidFill>
                          <a:effectLst/>
                        </a:rPr>
                        <a:t>Data Type</a:t>
                      </a:r>
                      <a:endParaRPr lang="en-IN" sz="12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accent3">
                        <a:lumMod val="60000"/>
                        <a:lumOff val="40000"/>
                      </a:schemeClr>
                    </a:solidFill>
                  </a:tcPr>
                </a:tc>
                <a:tc>
                  <a:txBody>
                    <a:bodyPr/>
                    <a:lstStyle/>
                    <a:p>
                      <a:pPr algn="ctr">
                        <a:lnSpc>
                          <a:spcPct val="115000"/>
                        </a:lnSpc>
                        <a:spcAft>
                          <a:spcPts val="1000"/>
                        </a:spcAft>
                        <a:buNone/>
                      </a:pPr>
                      <a:r>
                        <a:rPr lang="en-US" sz="1050">
                          <a:solidFill>
                            <a:schemeClr val="bg2"/>
                          </a:solidFill>
                          <a:effectLst/>
                        </a:rPr>
                        <a:t>Constraint</a:t>
                      </a:r>
                      <a:endParaRPr lang="en-IN" sz="12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accent3">
                        <a:lumMod val="60000"/>
                        <a:lumOff val="40000"/>
                      </a:schemeClr>
                    </a:solidFill>
                  </a:tcPr>
                </a:tc>
                <a:tc>
                  <a:txBody>
                    <a:bodyPr/>
                    <a:lstStyle/>
                    <a:p>
                      <a:pPr algn="ctr">
                        <a:lnSpc>
                          <a:spcPct val="115000"/>
                        </a:lnSpc>
                        <a:spcAft>
                          <a:spcPts val="1000"/>
                        </a:spcAft>
                        <a:buNone/>
                      </a:pPr>
                      <a:r>
                        <a:rPr lang="en-US" sz="1050" dirty="0">
                          <a:solidFill>
                            <a:schemeClr val="bg2"/>
                          </a:solidFill>
                          <a:effectLst/>
                        </a:rPr>
                        <a:t>Description</a:t>
                      </a:r>
                      <a:endParaRPr lang="en-IN" sz="12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083964529"/>
                  </a:ext>
                </a:extLst>
              </a:tr>
              <a:tr h="419953">
                <a:tc>
                  <a:txBody>
                    <a:bodyPr/>
                    <a:lstStyle/>
                    <a:p>
                      <a:pPr algn="ctr">
                        <a:lnSpc>
                          <a:spcPct val="115000"/>
                        </a:lnSpc>
                        <a:spcAft>
                          <a:spcPts val="1000"/>
                        </a:spcAft>
                        <a:buNone/>
                      </a:pPr>
                      <a:r>
                        <a:rPr lang="en-US" sz="1000" dirty="0">
                          <a:solidFill>
                            <a:schemeClr val="bg2"/>
                          </a:solidFill>
                          <a:effectLst/>
                        </a:rPr>
                        <a:t>_id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err="1">
                          <a:solidFill>
                            <a:schemeClr val="bg2"/>
                          </a:solidFill>
                          <a:effectLst/>
                        </a:rPr>
                        <a:t>ObjectId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Primary Key</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Unique question identifier</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2669394533"/>
                  </a:ext>
                </a:extLst>
              </a:tr>
              <a:tr h="202980">
                <a:tc>
                  <a:txBody>
                    <a:bodyPr/>
                    <a:lstStyle/>
                    <a:p>
                      <a:pPr algn="ctr">
                        <a:lnSpc>
                          <a:spcPct val="115000"/>
                        </a:lnSpc>
                        <a:spcAft>
                          <a:spcPts val="1000"/>
                        </a:spcAft>
                        <a:buNone/>
                      </a:pPr>
                      <a:r>
                        <a:rPr lang="en-US" sz="1000">
                          <a:solidFill>
                            <a:schemeClr val="bg2"/>
                          </a:solidFill>
                          <a:effectLst/>
                        </a:rPr>
                        <a:t>questionText</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String</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Required</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The question statement</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148174520"/>
                  </a:ext>
                </a:extLst>
              </a:tr>
              <a:tr h="419953">
                <a:tc>
                  <a:txBody>
                    <a:bodyPr/>
                    <a:lstStyle/>
                    <a:p>
                      <a:pPr algn="ctr">
                        <a:lnSpc>
                          <a:spcPct val="115000"/>
                        </a:lnSpc>
                        <a:spcAft>
                          <a:spcPts val="1000"/>
                        </a:spcAft>
                        <a:buNone/>
                      </a:pPr>
                      <a:r>
                        <a:rPr lang="en-US" sz="1000">
                          <a:solidFill>
                            <a:schemeClr val="bg2"/>
                          </a:solidFill>
                          <a:effectLst/>
                        </a:rPr>
                        <a:t>category</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String</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Required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Topic (Aptitude/DSA/React)</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2613032252"/>
                  </a:ext>
                </a:extLst>
              </a:tr>
              <a:tr h="419953">
                <a:tc>
                  <a:txBody>
                    <a:bodyPr/>
                    <a:lstStyle/>
                    <a:p>
                      <a:pPr algn="ctr">
                        <a:lnSpc>
                          <a:spcPct val="115000"/>
                        </a:lnSpc>
                        <a:spcAft>
                          <a:spcPts val="1000"/>
                        </a:spcAft>
                        <a:buNone/>
                      </a:pPr>
                      <a:r>
                        <a:rPr lang="en-US" sz="1000" dirty="0">
                          <a:solidFill>
                            <a:schemeClr val="bg2"/>
                          </a:solidFill>
                          <a:effectLst/>
                        </a:rPr>
                        <a:t>options</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Array[String]</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Required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4 multiple choice options</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3127258532"/>
                  </a:ext>
                </a:extLst>
              </a:tr>
              <a:tr h="419953">
                <a:tc>
                  <a:txBody>
                    <a:bodyPr/>
                    <a:lstStyle/>
                    <a:p>
                      <a:pPr algn="ctr">
                        <a:lnSpc>
                          <a:spcPct val="115000"/>
                        </a:lnSpc>
                        <a:spcAft>
                          <a:spcPts val="1000"/>
                        </a:spcAft>
                        <a:buNone/>
                      </a:pPr>
                      <a:r>
                        <a:rPr lang="en-US" sz="1000">
                          <a:solidFill>
                            <a:schemeClr val="bg2"/>
                          </a:solidFill>
                          <a:effectLst/>
                        </a:rPr>
                        <a:t>correctAnswer</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Number</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Required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0-based index of correct option</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1699836146"/>
                  </a:ext>
                </a:extLst>
              </a:tr>
              <a:tr h="202980">
                <a:tc>
                  <a:txBody>
                    <a:bodyPr/>
                    <a:lstStyle/>
                    <a:p>
                      <a:pPr algn="ctr">
                        <a:lnSpc>
                          <a:spcPct val="115000"/>
                        </a:lnSpc>
                        <a:spcAft>
                          <a:spcPts val="1000"/>
                        </a:spcAft>
                        <a:buNone/>
                      </a:pPr>
                      <a:r>
                        <a:rPr lang="en-US" sz="1000">
                          <a:solidFill>
                            <a:schemeClr val="bg2"/>
                          </a:solidFill>
                          <a:effectLst/>
                        </a:rPr>
                        <a:t>explanation</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String</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Optional</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Detailed solution text</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1145114946"/>
                  </a:ext>
                </a:extLst>
              </a:tr>
            </a:tbl>
          </a:graphicData>
        </a:graphic>
      </p:graphicFrame>
    </p:spTree>
    <p:extLst>
      <p:ext uri="{BB962C8B-B14F-4D97-AF65-F5344CB8AC3E}">
        <p14:creationId xmlns:p14="http://schemas.microsoft.com/office/powerpoint/2010/main" val="2443456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F1A0E-3534-E209-5A2F-56268ABFCB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F4DAF9-3176-7568-5CC8-A37828130C7D}"/>
              </a:ext>
            </a:extLst>
          </p:cNvPr>
          <p:cNvSpPr>
            <a:spLocks noGrp="1"/>
          </p:cNvSpPr>
          <p:nvPr>
            <p:ph type="title"/>
          </p:nvPr>
        </p:nvSpPr>
        <p:spPr>
          <a:xfrm>
            <a:off x="542551" y="615142"/>
            <a:ext cx="7945850" cy="954600"/>
          </a:xfrm>
        </p:spPr>
        <p:txBody>
          <a:bodyPr>
            <a:normAutofit/>
          </a:bodyPr>
          <a:lstStyle/>
          <a:p>
            <a:r>
              <a:rPr lang="en-US" b="1" dirty="0"/>
              <a:t>3.5 Data Dictionary</a:t>
            </a:r>
            <a:endParaRPr lang="en-IN" dirty="0"/>
          </a:p>
        </p:txBody>
      </p:sp>
      <p:sp>
        <p:nvSpPr>
          <p:cNvPr id="5" name="Google Shape;149;p14">
            <a:extLst>
              <a:ext uri="{FF2B5EF4-FFF2-40B4-BE49-F238E27FC236}">
                <a16:creationId xmlns:a16="http://schemas.microsoft.com/office/drawing/2014/main" id="{D2A90E2E-2605-CAD8-4289-230DE3CF4030}"/>
              </a:ext>
            </a:extLst>
          </p:cNvPr>
          <p:cNvSpPr txBox="1">
            <a:spLocks/>
          </p:cNvSpPr>
          <p:nvPr/>
        </p:nvSpPr>
        <p:spPr>
          <a:xfrm>
            <a:off x="241761" y="1479395"/>
            <a:ext cx="4077478" cy="542693"/>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r>
              <a:rPr lang="en-US" b="1" dirty="0"/>
              <a:t>Table 3: Course Schema (courses)</a:t>
            </a:r>
            <a:endParaRPr lang="en-IN" dirty="0"/>
          </a:p>
        </p:txBody>
      </p:sp>
      <p:graphicFrame>
        <p:nvGraphicFramePr>
          <p:cNvPr id="4" name="Table 3">
            <a:extLst>
              <a:ext uri="{FF2B5EF4-FFF2-40B4-BE49-F238E27FC236}">
                <a16:creationId xmlns:a16="http://schemas.microsoft.com/office/drawing/2014/main" id="{94381E63-EEC9-1625-C028-82CA244600B5}"/>
              </a:ext>
            </a:extLst>
          </p:cNvPr>
          <p:cNvGraphicFramePr>
            <a:graphicFrameLocks noGrp="1"/>
          </p:cNvGraphicFramePr>
          <p:nvPr>
            <p:extLst>
              <p:ext uri="{D42A27DB-BD31-4B8C-83A1-F6EECF244321}">
                <p14:modId xmlns:p14="http://schemas.microsoft.com/office/powerpoint/2010/main" val="2561636322"/>
              </p:ext>
            </p:extLst>
          </p:nvPr>
        </p:nvGraphicFramePr>
        <p:xfrm>
          <a:off x="1186675" y="2160645"/>
          <a:ext cx="6265128" cy="2340558"/>
        </p:xfrm>
        <a:graphic>
          <a:graphicData uri="http://schemas.openxmlformats.org/drawingml/2006/table">
            <a:tbl>
              <a:tblPr firstRow="1" firstCol="1" bandRow="1">
                <a:tableStyleId>{F2DE63D5-997A-4646-A377-4702673A728D}</a:tableStyleId>
              </a:tblPr>
              <a:tblGrid>
                <a:gridCol w="1566282">
                  <a:extLst>
                    <a:ext uri="{9D8B030D-6E8A-4147-A177-3AD203B41FA5}">
                      <a16:colId xmlns:a16="http://schemas.microsoft.com/office/drawing/2014/main" val="3071690463"/>
                    </a:ext>
                  </a:extLst>
                </a:gridCol>
                <a:gridCol w="1566282">
                  <a:extLst>
                    <a:ext uri="{9D8B030D-6E8A-4147-A177-3AD203B41FA5}">
                      <a16:colId xmlns:a16="http://schemas.microsoft.com/office/drawing/2014/main" val="49329193"/>
                    </a:ext>
                  </a:extLst>
                </a:gridCol>
                <a:gridCol w="1566282">
                  <a:extLst>
                    <a:ext uri="{9D8B030D-6E8A-4147-A177-3AD203B41FA5}">
                      <a16:colId xmlns:a16="http://schemas.microsoft.com/office/drawing/2014/main" val="1749154956"/>
                    </a:ext>
                  </a:extLst>
                </a:gridCol>
                <a:gridCol w="1566282">
                  <a:extLst>
                    <a:ext uri="{9D8B030D-6E8A-4147-A177-3AD203B41FA5}">
                      <a16:colId xmlns:a16="http://schemas.microsoft.com/office/drawing/2014/main" val="1959843235"/>
                    </a:ext>
                  </a:extLst>
                </a:gridCol>
              </a:tblGrid>
              <a:tr h="297366">
                <a:tc>
                  <a:txBody>
                    <a:bodyPr/>
                    <a:lstStyle/>
                    <a:p>
                      <a:pPr algn="ctr">
                        <a:lnSpc>
                          <a:spcPct val="115000"/>
                        </a:lnSpc>
                        <a:spcAft>
                          <a:spcPts val="1000"/>
                        </a:spcAft>
                        <a:buNone/>
                      </a:pPr>
                      <a:r>
                        <a:rPr lang="en-US" sz="1000" dirty="0">
                          <a:solidFill>
                            <a:schemeClr val="bg2"/>
                          </a:solidFill>
                          <a:effectLst/>
                        </a:rPr>
                        <a:t>Field Name</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accent3">
                        <a:lumMod val="60000"/>
                        <a:lumOff val="40000"/>
                      </a:schemeClr>
                    </a:solidFill>
                  </a:tcPr>
                </a:tc>
                <a:tc>
                  <a:txBody>
                    <a:bodyPr/>
                    <a:lstStyle/>
                    <a:p>
                      <a:pPr algn="ctr">
                        <a:lnSpc>
                          <a:spcPct val="115000"/>
                        </a:lnSpc>
                        <a:spcAft>
                          <a:spcPts val="1000"/>
                        </a:spcAft>
                        <a:buNone/>
                      </a:pPr>
                      <a:r>
                        <a:rPr lang="en-US" sz="1000" dirty="0">
                          <a:solidFill>
                            <a:schemeClr val="bg2"/>
                          </a:solidFill>
                          <a:effectLst/>
                        </a:rPr>
                        <a:t>Data Type</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accent3">
                        <a:lumMod val="60000"/>
                        <a:lumOff val="40000"/>
                      </a:schemeClr>
                    </a:solidFill>
                  </a:tcPr>
                </a:tc>
                <a:tc>
                  <a:txBody>
                    <a:bodyPr/>
                    <a:lstStyle/>
                    <a:p>
                      <a:pPr algn="ctr">
                        <a:lnSpc>
                          <a:spcPct val="115000"/>
                        </a:lnSpc>
                        <a:spcAft>
                          <a:spcPts val="1000"/>
                        </a:spcAft>
                        <a:buNone/>
                      </a:pPr>
                      <a:r>
                        <a:rPr lang="en-US" sz="1000" dirty="0">
                          <a:solidFill>
                            <a:schemeClr val="bg2"/>
                          </a:solidFill>
                          <a:effectLst/>
                        </a:rPr>
                        <a:t>Constraint</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accent3">
                        <a:lumMod val="60000"/>
                        <a:lumOff val="40000"/>
                      </a:schemeClr>
                    </a:solidFill>
                  </a:tcPr>
                </a:tc>
                <a:tc>
                  <a:txBody>
                    <a:bodyPr/>
                    <a:lstStyle/>
                    <a:p>
                      <a:pPr algn="ctr">
                        <a:lnSpc>
                          <a:spcPct val="115000"/>
                        </a:lnSpc>
                        <a:spcAft>
                          <a:spcPts val="1000"/>
                        </a:spcAft>
                        <a:buNone/>
                      </a:pPr>
                      <a:r>
                        <a:rPr lang="en-US" sz="1000" dirty="0">
                          <a:solidFill>
                            <a:schemeClr val="bg2"/>
                          </a:solidFill>
                          <a:effectLst/>
                        </a:rPr>
                        <a:t>Description</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305954878"/>
                  </a:ext>
                </a:extLst>
              </a:tr>
              <a:tr h="289038">
                <a:tc>
                  <a:txBody>
                    <a:bodyPr/>
                    <a:lstStyle/>
                    <a:p>
                      <a:pPr algn="ctr">
                        <a:lnSpc>
                          <a:spcPct val="115000"/>
                        </a:lnSpc>
                        <a:spcAft>
                          <a:spcPts val="1000"/>
                        </a:spcAft>
                        <a:buNone/>
                      </a:pPr>
                      <a:r>
                        <a:rPr lang="en-US" sz="1000" dirty="0">
                          <a:solidFill>
                            <a:schemeClr val="bg2"/>
                          </a:solidFill>
                          <a:effectLst/>
                        </a:rPr>
                        <a:t>_id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err="1">
                          <a:solidFill>
                            <a:schemeClr val="bg2"/>
                          </a:solidFill>
                          <a:effectLst/>
                        </a:rPr>
                        <a:t>ObjectId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Primary Key</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Unique course identifier</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2216733178"/>
                  </a:ext>
                </a:extLst>
              </a:tr>
              <a:tr h="289038">
                <a:tc>
                  <a:txBody>
                    <a:bodyPr/>
                    <a:lstStyle/>
                    <a:p>
                      <a:pPr algn="ctr">
                        <a:lnSpc>
                          <a:spcPct val="115000"/>
                        </a:lnSpc>
                        <a:spcAft>
                          <a:spcPts val="1000"/>
                        </a:spcAft>
                        <a:buNone/>
                      </a:pPr>
                      <a:r>
                        <a:rPr lang="en-US" sz="1000" dirty="0">
                          <a:solidFill>
                            <a:schemeClr val="bg2"/>
                          </a:solidFill>
                          <a:effectLst/>
                        </a:rPr>
                        <a:t>title</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String</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Required</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Title of the IT course</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2347365865"/>
                  </a:ext>
                </a:extLst>
              </a:tr>
              <a:tr h="289038">
                <a:tc>
                  <a:txBody>
                    <a:bodyPr/>
                    <a:lstStyle/>
                    <a:p>
                      <a:pPr algn="ctr">
                        <a:lnSpc>
                          <a:spcPct val="115000"/>
                        </a:lnSpc>
                        <a:spcAft>
                          <a:spcPts val="1000"/>
                        </a:spcAft>
                        <a:buNone/>
                      </a:pPr>
                      <a:r>
                        <a:rPr lang="en-US" sz="1000">
                          <a:solidFill>
                            <a:schemeClr val="bg2"/>
                          </a:solidFill>
                          <a:effectLst/>
                        </a:rPr>
                        <a:t>category</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String</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Required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Course domain</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1441774980"/>
                  </a:ext>
                </a:extLst>
              </a:tr>
              <a:tr h="289038">
                <a:tc>
                  <a:txBody>
                    <a:bodyPr/>
                    <a:lstStyle/>
                    <a:p>
                      <a:pPr algn="ctr">
                        <a:lnSpc>
                          <a:spcPct val="115000"/>
                        </a:lnSpc>
                        <a:spcAft>
                          <a:spcPts val="1000"/>
                        </a:spcAft>
                        <a:buNone/>
                      </a:pPr>
                      <a:r>
                        <a:rPr lang="en-US" sz="1000">
                          <a:solidFill>
                            <a:schemeClr val="bg2"/>
                          </a:solidFill>
                          <a:effectLst/>
                        </a:rPr>
                        <a:t>instructor</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String</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Required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Instructor name</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1770300986"/>
                  </a:ext>
                </a:extLst>
              </a:tr>
              <a:tr h="289038">
                <a:tc>
                  <a:txBody>
                    <a:bodyPr/>
                    <a:lstStyle/>
                    <a:p>
                      <a:pPr algn="ctr">
                        <a:lnSpc>
                          <a:spcPct val="115000"/>
                        </a:lnSpc>
                        <a:spcAft>
                          <a:spcPts val="1000"/>
                        </a:spcAft>
                        <a:buNone/>
                      </a:pPr>
                      <a:r>
                        <a:rPr lang="en-US" sz="1000">
                          <a:solidFill>
                            <a:schemeClr val="bg2"/>
                          </a:solidFill>
                          <a:effectLst/>
                        </a:rPr>
                        <a:t>duration</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String</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Required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Total course hours</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579062241"/>
                  </a:ext>
                </a:extLst>
              </a:tr>
              <a:tr h="598002">
                <a:tc>
                  <a:txBody>
                    <a:bodyPr/>
                    <a:lstStyle/>
                    <a:p>
                      <a:pPr algn="ctr">
                        <a:lnSpc>
                          <a:spcPct val="115000"/>
                        </a:lnSpc>
                        <a:spcAft>
                          <a:spcPts val="1000"/>
                        </a:spcAft>
                        <a:buNone/>
                      </a:pPr>
                      <a:r>
                        <a:rPr lang="en-US" sz="1000" dirty="0" err="1">
                          <a:solidFill>
                            <a:schemeClr val="bg2"/>
                          </a:solidFill>
                          <a:effectLst/>
                        </a:rPr>
                        <a:t>lessonsCount</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Number</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Required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Number of video lessons</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101580477"/>
                  </a:ext>
                </a:extLst>
              </a:tr>
            </a:tbl>
          </a:graphicData>
        </a:graphic>
      </p:graphicFrame>
    </p:spTree>
    <p:extLst>
      <p:ext uri="{BB962C8B-B14F-4D97-AF65-F5344CB8AC3E}">
        <p14:creationId xmlns:p14="http://schemas.microsoft.com/office/powerpoint/2010/main" val="184416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A71E6-5F35-2025-DA80-6A14047777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DB6D66-A323-07D8-4855-0159AC89DC33}"/>
              </a:ext>
            </a:extLst>
          </p:cNvPr>
          <p:cNvSpPr>
            <a:spLocks noGrp="1"/>
          </p:cNvSpPr>
          <p:nvPr>
            <p:ph type="title"/>
          </p:nvPr>
        </p:nvSpPr>
        <p:spPr>
          <a:xfrm>
            <a:off x="542551" y="615142"/>
            <a:ext cx="7945850" cy="954600"/>
          </a:xfrm>
        </p:spPr>
        <p:txBody>
          <a:bodyPr>
            <a:normAutofit/>
          </a:bodyPr>
          <a:lstStyle/>
          <a:p>
            <a:r>
              <a:rPr lang="en-US" b="1" dirty="0"/>
              <a:t>3.5 Data Dictionary</a:t>
            </a:r>
            <a:endParaRPr lang="en-IN" dirty="0"/>
          </a:p>
        </p:txBody>
      </p:sp>
      <p:sp>
        <p:nvSpPr>
          <p:cNvPr id="5" name="Google Shape;149;p14">
            <a:extLst>
              <a:ext uri="{FF2B5EF4-FFF2-40B4-BE49-F238E27FC236}">
                <a16:creationId xmlns:a16="http://schemas.microsoft.com/office/drawing/2014/main" id="{D1F299CC-AFCB-5892-5D99-169B3A895E84}"/>
              </a:ext>
            </a:extLst>
          </p:cNvPr>
          <p:cNvSpPr txBox="1">
            <a:spLocks/>
          </p:cNvSpPr>
          <p:nvPr/>
        </p:nvSpPr>
        <p:spPr>
          <a:xfrm>
            <a:off x="241761" y="1479395"/>
            <a:ext cx="4077478" cy="542693"/>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r>
              <a:rPr lang="en-US" b="1" dirty="0"/>
              <a:t>Table 4: </a:t>
            </a:r>
            <a:r>
              <a:rPr lang="en-US" b="1" dirty="0" err="1"/>
              <a:t>ExamResult</a:t>
            </a:r>
            <a:r>
              <a:rPr lang="en-US" b="1" dirty="0"/>
              <a:t> Schema (</a:t>
            </a:r>
            <a:r>
              <a:rPr lang="en-US" b="1" dirty="0" err="1"/>
              <a:t>examresults</a:t>
            </a:r>
            <a:r>
              <a:rPr lang="en-US" b="1" dirty="0"/>
              <a:t>)</a:t>
            </a:r>
            <a:endParaRPr lang="en-IN" dirty="0"/>
          </a:p>
        </p:txBody>
      </p:sp>
      <p:graphicFrame>
        <p:nvGraphicFramePr>
          <p:cNvPr id="3" name="Table 2">
            <a:extLst>
              <a:ext uri="{FF2B5EF4-FFF2-40B4-BE49-F238E27FC236}">
                <a16:creationId xmlns:a16="http://schemas.microsoft.com/office/drawing/2014/main" id="{5954720B-2B48-CEC9-F88D-AE323A0CB682}"/>
              </a:ext>
            </a:extLst>
          </p:cNvPr>
          <p:cNvGraphicFramePr>
            <a:graphicFrameLocks noGrp="1"/>
          </p:cNvGraphicFramePr>
          <p:nvPr>
            <p:extLst>
              <p:ext uri="{D42A27DB-BD31-4B8C-83A1-F6EECF244321}">
                <p14:modId xmlns:p14="http://schemas.microsoft.com/office/powerpoint/2010/main" val="841747826"/>
              </p:ext>
            </p:extLst>
          </p:nvPr>
        </p:nvGraphicFramePr>
        <p:xfrm>
          <a:off x="1592801" y="1926582"/>
          <a:ext cx="5845350" cy="2972784"/>
        </p:xfrm>
        <a:graphic>
          <a:graphicData uri="http://schemas.openxmlformats.org/drawingml/2006/table">
            <a:tbl>
              <a:tblPr firstRow="1" firstCol="1" bandRow="1">
                <a:tableStyleId>{F2DE63D5-997A-4646-A377-4702673A728D}</a:tableStyleId>
              </a:tblPr>
              <a:tblGrid>
                <a:gridCol w="1183323">
                  <a:extLst>
                    <a:ext uri="{9D8B030D-6E8A-4147-A177-3AD203B41FA5}">
                      <a16:colId xmlns:a16="http://schemas.microsoft.com/office/drawing/2014/main" val="3347523776"/>
                    </a:ext>
                  </a:extLst>
                </a:gridCol>
                <a:gridCol w="1554009">
                  <a:extLst>
                    <a:ext uri="{9D8B030D-6E8A-4147-A177-3AD203B41FA5}">
                      <a16:colId xmlns:a16="http://schemas.microsoft.com/office/drawing/2014/main" val="2638306207"/>
                    </a:ext>
                  </a:extLst>
                </a:gridCol>
                <a:gridCol w="1554009">
                  <a:extLst>
                    <a:ext uri="{9D8B030D-6E8A-4147-A177-3AD203B41FA5}">
                      <a16:colId xmlns:a16="http://schemas.microsoft.com/office/drawing/2014/main" val="998070873"/>
                    </a:ext>
                  </a:extLst>
                </a:gridCol>
                <a:gridCol w="1554009">
                  <a:extLst>
                    <a:ext uri="{9D8B030D-6E8A-4147-A177-3AD203B41FA5}">
                      <a16:colId xmlns:a16="http://schemas.microsoft.com/office/drawing/2014/main" val="595915780"/>
                    </a:ext>
                  </a:extLst>
                </a:gridCol>
              </a:tblGrid>
              <a:tr h="257953">
                <a:tc>
                  <a:txBody>
                    <a:bodyPr/>
                    <a:lstStyle/>
                    <a:p>
                      <a:pPr algn="ctr">
                        <a:lnSpc>
                          <a:spcPct val="115000"/>
                        </a:lnSpc>
                        <a:spcAft>
                          <a:spcPts val="1000"/>
                        </a:spcAft>
                        <a:buNone/>
                      </a:pPr>
                      <a:r>
                        <a:rPr lang="en-US" sz="1000" dirty="0">
                          <a:solidFill>
                            <a:schemeClr val="bg2"/>
                          </a:solidFill>
                          <a:effectLst/>
                        </a:rPr>
                        <a:t>Field Name</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accent3">
                        <a:lumMod val="60000"/>
                        <a:lumOff val="40000"/>
                      </a:schemeClr>
                    </a:solidFill>
                  </a:tcPr>
                </a:tc>
                <a:tc>
                  <a:txBody>
                    <a:bodyPr/>
                    <a:lstStyle/>
                    <a:p>
                      <a:pPr algn="ctr">
                        <a:lnSpc>
                          <a:spcPct val="115000"/>
                        </a:lnSpc>
                        <a:spcAft>
                          <a:spcPts val="1000"/>
                        </a:spcAft>
                        <a:buNone/>
                      </a:pPr>
                      <a:r>
                        <a:rPr lang="en-US" sz="1000" dirty="0">
                          <a:solidFill>
                            <a:schemeClr val="bg2"/>
                          </a:solidFill>
                          <a:effectLst/>
                        </a:rPr>
                        <a:t>Data Type</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accent3">
                        <a:lumMod val="60000"/>
                        <a:lumOff val="40000"/>
                      </a:schemeClr>
                    </a:solidFill>
                  </a:tcPr>
                </a:tc>
                <a:tc>
                  <a:txBody>
                    <a:bodyPr/>
                    <a:lstStyle/>
                    <a:p>
                      <a:pPr algn="ctr">
                        <a:lnSpc>
                          <a:spcPct val="115000"/>
                        </a:lnSpc>
                        <a:spcAft>
                          <a:spcPts val="1000"/>
                        </a:spcAft>
                        <a:buNone/>
                      </a:pPr>
                      <a:r>
                        <a:rPr lang="en-US" sz="1000" dirty="0">
                          <a:solidFill>
                            <a:schemeClr val="bg2"/>
                          </a:solidFill>
                          <a:effectLst/>
                        </a:rPr>
                        <a:t>Constraint</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accent3">
                        <a:lumMod val="60000"/>
                        <a:lumOff val="40000"/>
                      </a:schemeClr>
                    </a:solidFill>
                  </a:tcPr>
                </a:tc>
                <a:tc>
                  <a:txBody>
                    <a:bodyPr/>
                    <a:lstStyle/>
                    <a:p>
                      <a:pPr algn="ctr">
                        <a:lnSpc>
                          <a:spcPct val="115000"/>
                        </a:lnSpc>
                        <a:spcAft>
                          <a:spcPts val="1000"/>
                        </a:spcAft>
                        <a:buNone/>
                      </a:pPr>
                      <a:r>
                        <a:rPr lang="en-US" sz="1000" dirty="0">
                          <a:solidFill>
                            <a:schemeClr val="bg2"/>
                          </a:solidFill>
                          <a:effectLst/>
                        </a:rPr>
                        <a:t>Description</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110719822"/>
                  </a:ext>
                </a:extLst>
              </a:tr>
              <a:tr h="230270">
                <a:tc>
                  <a:txBody>
                    <a:bodyPr/>
                    <a:lstStyle/>
                    <a:p>
                      <a:pPr algn="ctr">
                        <a:lnSpc>
                          <a:spcPct val="115000"/>
                        </a:lnSpc>
                        <a:spcAft>
                          <a:spcPts val="1000"/>
                        </a:spcAft>
                        <a:buNone/>
                      </a:pPr>
                      <a:r>
                        <a:rPr lang="en-US" sz="1000" dirty="0">
                          <a:solidFill>
                            <a:schemeClr val="bg2"/>
                          </a:solidFill>
                          <a:effectLst/>
                        </a:rPr>
                        <a:t>_id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err="1">
                          <a:solidFill>
                            <a:schemeClr val="bg2"/>
                          </a:solidFill>
                          <a:effectLst/>
                        </a:rPr>
                        <a:t>ObjectId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Primary Key</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Unique result identifier</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1168299896"/>
                  </a:ext>
                </a:extLst>
              </a:tr>
              <a:tr h="342725">
                <a:tc>
                  <a:txBody>
                    <a:bodyPr/>
                    <a:lstStyle/>
                    <a:p>
                      <a:pPr algn="ctr">
                        <a:lnSpc>
                          <a:spcPct val="115000"/>
                        </a:lnSpc>
                        <a:spcAft>
                          <a:spcPts val="1000"/>
                        </a:spcAft>
                        <a:buNone/>
                      </a:pPr>
                      <a:r>
                        <a:rPr lang="en-US" sz="1000">
                          <a:solidFill>
                            <a:schemeClr val="bg2"/>
                          </a:solidFill>
                          <a:effectLst/>
                        </a:rPr>
                        <a:t>userId</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ObjectId</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Foreign Key (User)</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Reference to user account</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1902372770"/>
                  </a:ext>
                </a:extLst>
              </a:tr>
              <a:tr h="216129">
                <a:tc>
                  <a:txBody>
                    <a:bodyPr/>
                    <a:lstStyle/>
                    <a:p>
                      <a:pPr algn="ctr">
                        <a:lnSpc>
                          <a:spcPct val="115000"/>
                        </a:lnSpc>
                        <a:spcAft>
                          <a:spcPts val="1000"/>
                        </a:spcAft>
                        <a:buNone/>
                      </a:pPr>
                      <a:r>
                        <a:rPr lang="en-US" sz="1000">
                          <a:solidFill>
                            <a:schemeClr val="bg2"/>
                          </a:solidFill>
                          <a:effectLst/>
                        </a:rPr>
                        <a:t>userEmail</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String</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Default: Guest</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User email</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1537864218"/>
                  </a:ext>
                </a:extLst>
              </a:tr>
              <a:tr h="215590">
                <a:tc>
                  <a:txBody>
                    <a:bodyPr/>
                    <a:lstStyle/>
                    <a:p>
                      <a:pPr algn="ctr">
                        <a:lnSpc>
                          <a:spcPct val="115000"/>
                        </a:lnSpc>
                        <a:spcAft>
                          <a:spcPts val="1000"/>
                        </a:spcAft>
                        <a:buNone/>
                      </a:pPr>
                      <a:r>
                        <a:rPr lang="en-US" sz="1000">
                          <a:solidFill>
                            <a:schemeClr val="bg2"/>
                          </a:solidFill>
                          <a:effectLst/>
                        </a:rPr>
                        <a:t>scorePercentage</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Number</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Required</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Calculated score %</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2112140276"/>
                  </a:ext>
                </a:extLst>
              </a:tr>
              <a:tr h="312234">
                <a:tc>
                  <a:txBody>
                    <a:bodyPr/>
                    <a:lstStyle/>
                    <a:p>
                      <a:pPr algn="ctr">
                        <a:lnSpc>
                          <a:spcPct val="115000"/>
                        </a:lnSpc>
                        <a:spcAft>
                          <a:spcPts val="1000"/>
                        </a:spcAft>
                        <a:buNone/>
                      </a:pPr>
                      <a:r>
                        <a:rPr lang="en-US" sz="1000">
                          <a:solidFill>
                            <a:schemeClr val="bg2"/>
                          </a:solidFill>
                          <a:effectLst/>
                        </a:rPr>
                        <a:t>correctCount</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Number</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Required</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Number of correct answers</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1699979582"/>
                  </a:ext>
                </a:extLst>
              </a:tr>
              <a:tr h="342725">
                <a:tc>
                  <a:txBody>
                    <a:bodyPr/>
                    <a:lstStyle/>
                    <a:p>
                      <a:pPr algn="ctr">
                        <a:lnSpc>
                          <a:spcPct val="115000"/>
                        </a:lnSpc>
                        <a:spcAft>
                          <a:spcPts val="1000"/>
                        </a:spcAft>
                        <a:buNone/>
                      </a:pPr>
                      <a:r>
                        <a:rPr lang="en-US" sz="1000">
                          <a:solidFill>
                            <a:schemeClr val="bg2"/>
                          </a:solidFill>
                          <a:effectLst/>
                        </a:rPr>
                        <a:t>totalQuestions</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Number</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Required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Total test questions count</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2381429653"/>
                  </a:ext>
                </a:extLst>
              </a:tr>
              <a:tr h="342725">
                <a:tc>
                  <a:txBody>
                    <a:bodyPr/>
                    <a:lstStyle/>
                    <a:p>
                      <a:pPr algn="ctr">
                        <a:lnSpc>
                          <a:spcPct val="115000"/>
                        </a:lnSpc>
                        <a:spcAft>
                          <a:spcPts val="1000"/>
                        </a:spcAft>
                        <a:buNone/>
                      </a:pPr>
                      <a:r>
                        <a:rPr lang="en-US" sz="1000">
                          <a:solidFill>
                            <a:schemeClr val="bg2"/>
                          </a:solidFill>
                          <a:effectLst/>
                        </a:rPr>
                        <a:t>userAnswers</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Object</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Required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a:solidFill>
                            <a:schemeClr val="bg2"/>
                          </a:solidFill>
                          <a:effectLst/>
                        </a:rPr>
                        <a:t>Key-value pairs of answers</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1820056043"/>
                  </a:ext>
                </a:extLst>
              </a:tr>
              <a:tr h="342725">
                <a:tc>
                  <a:txBody>
                    <a:bodyPr/>
                    <a:lstStyle/>
                    <a:p>
                      <a:pPr algn="ctr">
                        <a:lnSpc>
                          <a:spcPct val="115000"/>
                        </a:lnSpc>
                        <a:spcAft>
                          <a:spcPts val="1000"/>
                        </a:spcAft>
                        <a:buNone/>
                      </a:pPr>
                      <a:r>
                        <a:rPr lang="en-US" sz="1000">
                          <a:solidFill>
                            <a:schemeClr val="bg2"/>
                          </a:solidFill>
                          <a:effectLst/>
                        </a:rPr>
                        <a:t>weakCategories</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Array[String]</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Optional</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Topics where errors occurred</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3005496463"/>
                  </a:ext>
                </a:extLst>
              </a:tr>
              <a:tr h="342725">
                <a:tc>
                  <a:txBody>
                    <a:bodyPr/>
                    <a:lstStyle/>
                    <a:p>
                      <a:pPr algn="ctr">
                        <a:lnSpc>
                          <a:spcPct val="115000"/>
                        </a:lnSpc>
                        <a:spcAft>
                          <a:spcPts val="1000"/>
                        </a:spcAft>
                        <a:buNone/>
                      </a:pPr>
                      <a:r>
                        <a:rPr lang="en-US" sz="1000">
                          <a:solidFill>
                            <a:schemeClr val="bg2"/>
                          </a:solidFill>
                          <a:effectLst/>
                        </a:rPr>
                        <a:t>createdAt</a:t>
                      </a:r>
                      <a:endParaRPr lang="en-IN" sz="110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Date</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Default: Now</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tc>
                  <a:txBody>
                    <a:bodyPr/>
                    <a:lstStyle/>
                    <a:p>
                      <a:pPr algn="ctr">
                        <a:lnSpc>
                          <a:spcPct val="115000"/>
                        </a:lnSpc>
                        <a:spcAft>
                          <a:spcPts val="1000"/>
                        </a:spcAft>
                        <a:buNone/>
                      </a:pPr>
                      <a:r>
                        <a:rPr lang="en-US" sz="1000" dirty="0">
                          <a:solidFill>
                            <a:schemeClr val="bg2"/>
                          </a:solidFill>
                          <a:effectLst/>
                        </a:rPr>
                        <a:t>Exam submission timestamp</a:t>
                      </a:r>
                      <a:endParaRPr lang="en-IN" sz="1100" dirty="0">
                        <a:solidFill>
                          <a:schemeClr val="bg2"/>
                        </a:solidFill>
                        <a:effectLst/>
                        <a:latin typeface="Calibri" panose="020F0502020204030204" pitchFamily="34" charset="0"/>
                        <a:ea typeface="MS Mincho" panose="02020609040205080304" pitchFamily="49" charset="-128"/>
                        <a:cs typeface="Mangal" panose="02040503050203030202" pitchFamily="18" charset="0"/>
                      </a:endParaRPr>
                    </a:p>
                  </a:txBody>
                  <a:tcPr marL="68580" marR="68580" marT="0" marB="0" anchor="ctr">
                    <a:lnL w="9525" cap="flat" cmpd="sng" algn="ctr">
                      <a:solidFill>
                        <a:schemeClr val="bg2">
                          <a:lumMod val="50000"/>
                        </a:schemeClr>
                      </a:solidFill>
                      <a:prstDash val="solid"/>
                      <a:round/>
                      <a:headEnd type="none" w="med" len="med"/>
                      <a:tailEnd type="none" w="med" len="med"/>
                    </a:lnL>
                    <a:lnR w="9525" cap="flat" cmpd="sng" algn="ctr">
                      <a:solidFill>
                        <a:schemeClr val="bg2">
                          <a:lumMod val="50000"/>
                        </a:schemeClr>
                      </a:solidFill>
                      <a:prstDash val="solid"/>
                      <a:round/>
                      <a:headEnd type="none" w="med" len="med"/>
                      <a:tailEnd type="none" w="med" len="med"/>
                    </a:lnR>
                    <a:lnT w="9525" cap="flat" cmpd="sng" algn="ctr">
                      <a:solidFill>
                        <a:schemeClr val="bg2">
                          <a:lumMod val="50000"/>
                        </a:schemeClr>
                      </a:solidFill>
                      <a:prstDash val="solid"/>
                      <a:round/>
                      <a:headEnd type="none" w="med" len="med"/>
                      <a:tailEnd type="none" w="med" len="med"/>
                    </a:lnT>
                    <a:lnB w="952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3540356496"/>
                  </a:ext>
                </a:extLst>
              </a:tr>
            </a:tbl>
          </a:graphicData>
        </a:graphic>
      </p:graphicFrame>
    </p:spTree>
    <p:extLst>
      <p:ext uri="{BB962C8B-B14F-4D97-AF65-F5344CB8AC3E}">
        <p14:creationId xmlns:p14="http://schemas.microsoft.com/office/powerpoint/2010/main" val="180475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b="1"/>
              <a:t>4. Development</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4.1 Coding Standards</a:t>
            </a:r>
          </a:p>
        </p:txBody>
      </p:sp>
      <p:sp>
        <p:nvSpPr>
          <p:cNvPr id="3" name="TextBox 2"/>
          <p:cNvSpPr txBox="1"/>
          <p:nvPr/>
        </p:nvSpPr>
        <p:spPr>
          <a:xfrm>
            <a:off x="548640" y="1386037"/>
            <a:ext cx="8046720" cy="3474720"/>
          </a:xfrm>
          <a:prstGeom prst="rect">
            <a:avLst/>
          </a:prstGeom>
          <a:noFill/>
        </p:spPr>
        <p:txBody>
          <a:bodyPr wrap="square">
            <a:spAutoFit/>
          </a:bodyPr>
          <a:lstStyle/>
          <a:p>
            <a:r>
              <a:rPr sz="1450" b="1" dirty="0"/>
              <a:t>4.1.1 Architectural &amp; Structural Principles :-</a:t>
            </a:r>
          </a:p>
          <a:p>
            <a:r>
              <a:rPr sz="1250" b="1" dirty="0"/>
              <a:t>Component-Driven Development (CDD): </a:t>
            </a:r>
            <a:r>
              <a:rPr sz="1250" b="0" dirty="0"/>
              <a:t>Modular, reusable UI components in /components (e.g., </a:t>
            </a:r>
            <a:r>
              <a:rPr sz="1250" b="0" dirty="0" err="1"/>
              <a:t>QuestionPalette</a:t>
            </a:r>
            <a:r>
              <a:rPr sz="1250" b="0" dirty="0"/>
              <a:t>, </a:t>
            </a:r>
            <a:r>
              <a:rPr sz="1250" b="0" dirty="0" err="1"/>
              <a:t>WeakSpotAnalyzer</a:t>
            </a:r>
            <a:r>
              <a:rPr sz="1250" b="0" dirty="0"/>
              <a:t>).</a:t>
            </a:r>
          </a:p>
          <a:p>
            <a:r>
              <a:rPr sz="1250" b="1" dirty="0"/>
              <a:t>File-Based Routing: </a:t>
            </a:r>
            <a:r>
              <a:rPr sz="1250" b="0" dirty="0"/>
              <a:t>Follows Expo Router conventions in /app for declarative, stack-based routing.</a:t>
            </a:r>
          </a:p>
          <a:p>
            <a:r>
              <a:rPr sz="1250" b="1" dirty="0"/>
              <a:t>Service Layer Abstraction: </a:t>
            </a:r>
            <a:r>
              <a:rPr sz="1250" b="0" dirty="0"/>
              <a:t>Centralized REST communication in /services/</a:t>
            </a:r>
            <a:r>
              <a:rPr sz="1250" b="0" dirty="0" err="1"/>
              <a:t>api.ts</a:t>
            </a:r>
            <a:r>
              <a:rPr sz="1250" b="0" dirty="0"/>
              <a:t>; presentation components never call fetch directly.</a:t>
            </a:r>
          </a:p>
          <a:p>
            <a:r>
              <a:rPr sz="1250" b="1" dirty="0"/>
              <a:t>Backend MVC Architecture: </a:t>
            </a:r>
            <a:r>
              <a:rPr sz="1250" b="0" dirty="0"/>
              <a:t>Separation of concerns between Mongoose models (/backend/models), routes, and business controllers.</a:t>
            </a:r>
          </a:p>
          <a:p>
            <a:pPr>
              <a:defRPr sz="400"/>
            </a:pPr>
            <a:endParaRPr sz="1250" b="0" dirty="0"/>
          </a:p>
          <a:p>
            <a:r>
              <a:rPr sz="1450" b="1" dirty="0"/>
              <a:t>4.1.2 Naming Conventions :-</a:t>
            </a:r>
          </a:p>
          <a:p>
            <a:r>
              <a:rPr sz="1250" b="1" dirty="0"/>
              <a:t>Component Files &amp; Interfaces: </a:t>
            </a:r>
            <a:r>
              <a:rPr sz="1250" b="0" dirty="0" err="1"/>
              <a:t>PascalCase</a:t>
            </a:r>
            <a:r>
              <a:rPr sz="1250" b="0" dirty="0"/>
              <a:t> is strictly enforced (e.g., </a:t>
            </a:r>
            <a:r>
              <a:rPr sz="1250" b="0" dirty="0" err="1"/>
              <a:t>WeakSpotAnalyzer.tsx</a:t>
            </a:r>
            <a:r>
              <a:rPr sz="1250" b="0" dirty="0"/>
              <a:t>, </a:t>
            </a:r>
            <a:r>
              <a:rPr sz="1250" b="0" dirty="0" err="1"/>
              <a:t>Question.ts</a:t>
            </a:r>
            <a:r>
              <a:rPr sz="1250" b="0" dirty="0"/>
              <a:t>).</a:t>
            </a:r>
          </a:p>
          <a:p>
            <a:r>
              <a:rPr sz="1250" b="1" dirty="0"/>
              <a:t>Functions, Methods &amp; Hooks: </a:t>
            </a:r>
            <a:r>
              <a:rPr sz="1250" b="0" dirty="0"/>
              <a:t>camelCase is used for handlers, utilities, and custom React hooks (e.g., </a:t>
            </a:r>
            <a:r>
              <a:rPr sz="1250" b="0" dirty="0" err="1"/>
              <a:t>useAuth</a:t>
            </a:r>
            <a:r>
              <a:rPr sz="1250" b="0" dirty="0"/>
              <a:t>, </a:t>
            </a:r>
            <a:r>
              <a:rPr sz="1250" b="0" dirty="0" err="1"/>
              <a:t>getQuestions</a:t>
            </a:r>
            <a:r>
              <a:rPr sz="1250" b="0" dirty="0"/>
              <a:t>).</a:t>
            </a:r>
          </a:p>
          <a:p>
            <a:r>
              <a:rPr sz="1250" b="1" dirty="0"/>
              <a:t>Constants &amp; Environment Keys: </a:t>
            </a:r>
            <a:r>
              <a:rPr sz="1250" b="0" dirty="0"/>
              <a:t>UPPER_SNAKE_CASE is reserved for constants and env keys (e.g., EXPO_PUBLIC_API_URL).</a:t>
            </a:r>
          </a:p>
          <a:p>
            <a:r>
              <a:rPr sz="1250" b="1" dirty="0"/>
              <a:t>Route Files: </a:t>
            </a:r>
            <a:r>
              <a:rPr sz="1250" b="0" dirty="0"/>
              <a:t>kebab-case is utilized for Expo Router paths (e.g., doubt-</a:t>
            </a:r>
            <a:r>
              <a:rPr sz="1250" b="0" dirty="0" err="1"/>
              <a:t>solver.tsx</a:t>
            </a:r>
            <a:r>
              <a:rPr sz="1250" b="0" dirty="0"/>
              <a:t>, quiz-</a:t>
            </a:r>
            <a:r>
              <a:rPr sz="1250" b="0" dirty="0" err="1"/>
              <a:t>duel.tsx</a:t>
            </a:r>
            <a:r>
              <a:rPr sz="1250" b="0" dirty="0"/>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4.1 Coding Standards</a:t>
            </a:r>
          </a:p>
        </p:txBody>
      </p:sp>
      <p:sp>
        <p:nvSpPr>
          <p:cNvPr id="3" name="TextBox 2"/>
          <p:cNvSpPr txBox="1"/>
          <p:nvPr/>
        </p:nvSpPr>
        <p:spPr>
          <a:xfrm>
            <a:off x="548640" y="1262284"/>
            <a:ext cx="8046720" cy="3474720"/>
          </a:xfrm>
          <a:prstGeom prst="rect">
            <a:avLst/>
          </a:prstGeom>
          <a:noFill/>
        </p:spPr>
        <p:txBody>
          <a:bodyPr wrap="square">
            <a:spAutoFit/>
          </a:bodyPr>
          <a:lstStyle/>
          <a:p>
            <a:r>
              <a:rPr sz="1450" b="1" dirty="0"/>
              <a:t>4.1.3 Static Typing &amp; Code Formatting :-</a:t>
            </a:r>
          </a:p>
          <a:p>
            <a:r>
              <a:rPr sz="1250" b="1" dirty="0"/>
              <a:t>TypeScript Strict Mode: </a:t>
            </a:r>
            <a:r>
              <a:rPr sz="1250" b="0" dirty="0"/>
              <a:t>Configured with strict: true, eliminating implicit 'any' and catching nullability issues at compile-time.</a:t>
            </a:r>
          </a:p>
          <a:p>
            <a:r>
              <a:rPr sz="1250" b="1" dirty="0"/>
              <a:t>Explicit Interfaces &amp; Root Aliasing: </a:t>
            </a:r>
            <a:r>
              <a:rPr sz="1250" b="0" dirty="0"/>
              <a:t>Dedicated models for all API payloads and component props; path alias (@/*) removes relative paths.</a:t>
            </a:r>
          </a:p>
          <a:p>
            <a:r>
              <a:rPr sz="1250" b="1" dirty="0" err="1"/>
              <a:t>ESLint</a:t>
            </a:r>
            <a:r>
              <a:rPr sz="1250" b="1" dirty="0"/>
              <a:t> Flat Config: </a:t>
            </a:r>
            <a:r>
              <a:rPr sz="1250" b="0" dirty="0"/>
              <a:t>Code style validated via eslint.config.js extending </a:t>
            </a:r>
            <a:r>
              <a:rPr sz="1250" b="0" dirty="0" err="1"/>
              <a:t>eslint</a:t>
            </a:r>
            <a:r>
              <a:rPr sz="1250" b="0" dirty="0"/>
              <a:t>-config-expo (2-space indent, strict semicolons).</a:t>
            </a:r>
          </a:p>
          <a:p>
            <a:pPr>
              <a:defRPr sz="400"/>
            </a:pPr>
            <a:endParaRPr sz="1250" b="0" dirty="0"/>
          </a:p>
          <a:p>
            <a:r>
              <a:rPr sz="1450" b="1" dirty="0"/>
              <a:t>4.1.4 State Management, Offline Resilience &amp; Security :-</a:t>
            </a:r>
          </a:p>
          <a:p>
            <a:r>
              <a:rPr sz="1250" b="1" dirty="0"/>
              <a:t>Global State via Context API: </a:t>
            </a:r>
            <a:r>
              <a:rPr sz="1250" b="0" dirty="0" err="1"/>
              <a:t>ThemeContext</a:t>
            </a:r>
            <a:r>
              <a:rPr sz="1250" b="0" dirty="0"/>
              <a:t> (Dark/Light mode) and </a:t>
            </a:r>
            <a:r>
              <a:rPr sz="1250" b="0" dirty="0" err="1"/>
              <a:t>AuthContext</a:t>
            </a:r>
            <a:r>
              <a:rPr sz="1250" b="0" dirty="0"/>
              <a:t> (session persistence) avoid prop drilling.</a:t>
            </a:r>
          </a:p>
          <a:p>
            <a:r>
              <a:rPr sz="1250" b="1" dirty="0"/>
              <a:t>Transparent Offline Resilience: </a:t>
            </a:r>
            <a:r>
              <a:rPr sz="1250" b="0" dirty="0" err="1"/>
              <a:t>ApiService</a:t>
            </a:r>
            <a:r>
              <a:rPr sz="1250" b="0" dirty="0"/>
              <a:t> intercepts network connectivity dropouts and transparently serves verified local datasets.</a:t>
            </a:r>
          </a:p>
          <a:p>
            <a:r>
              <a:rPr sz="1250" b="1" dirty="0"/>
              <a:t>Error Boundary Protection: </a:t>
            </a:r>
            <a:r>
              <a:rPr sz="1250" b="0" dirty="0"/>
              <a:t>React Error Boundaries encapsulate root layout to prevent fatal app crashes from UI exceptions.</a:t>
            </a:r>
          </a:p>
          <a:p>
            <a:r>
              <a:rPr sz="1250" b="1" dirty="0"/>
              <a:t>Backend Security Standards: </a:t>
            </a:r>
            <a:r>
              <a:rPr sz="1250" b="0" dirty="0"/>
              <a:t>Passwords encrypted via </a:t>
            </a:r>
            <a:r>
              <a:rPr sz="1250" b="0" dirty="0" err="1"/>
              <a:t>bcryptjs</a:t>
            </a:r>
            <a:r>
              <a:rPr sz="1250" b="0" dirty="0"/>
              <a:t> (10 salt rounds); REST APIs protected with JWT bearer tokens.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4.2.1 Welcome and Onboarding Screen</a:t>
            </a:r>
          </a:p>
        </p:txBody>
      </p:sp>
      <p:sp>
        <p:nvSpPr>
          <p:cNvPr id="3" name="TextBox 2"/>
          <p:cNvSpPr txBox="1"/>
          <p:nvPr/>
        </p:nvSpPr>
        <p:spPr>
          <a:xfrm>
            <a:off x="617393" y="1455615"/>
            <a:ext cx="5394960" cy="3474720"/>
          </a:xfrm>
          <a:prstGeom prst="rect">
            <a:avLst/>
          </a:prstGeom>
          <a:noFill/>
        </p:spPr>
        <p:txBody>
          <a:bodyPr wrap="square">
            <a:spAutoFit/>
          </a:bodyPr>
          <a:lstStyle/>
          <a:p>
            <a:r>
              <a:rPr sz="1150" b="1" dirty="0"/>
              <a:t>Welcome &amp; Onboarding Experience :-</a:t>
            </a:r>
          </a:p>
          <a:p>
            <a:pPr>
              <a:defRPr sz="400"/>
            </a:pPr>
            <a:endParaRPr sz="1450" b="1" dirty="0"/>
          </a:p>
          <a:p>
            <a:r>
              <a:rPr sz="1150" b="1" dirty="0"/>
              <a:t>Platform Introduction: </a:t>
            </a:r>
            <a:r>
              <a:rPr sz="1150" b="0" dirty="0"/>
              <a:t>Introduces students to the unified academic &amp; career companion covering Gujarat Board (GSEB 9-12) and GTU Engineering.</a:t>
            </a:r>
          </a:p>
          <a:p>
            <a:pPr>
              <a:defRPr sz="400"/>
            </a:pPr>
            <a:endParaRPr sz="1250" b="0" dirty="0"/>
          </a:p>
          <a:p>
            <a:r>
              <a:rPr sz="1150" b="1" dirty="0"/>
              <a:t>Feature Highlights: </a:t>
            </a:r>
            <a:r>
              <a:rPr sz="1150" b="0" dirty="0"/>
              <a:t>Showcases core capabilities: real-time timed mock tests, chapter-aligned learning, and video lectures.</a:t>
            </a:r>
          </a:p>
          <a:p>
            <a:pPr>
              <a:defRPr sz="400"/>
            </a:pPr>
            <a:endParaRPr sz="1250" b="0" dirty="0"/>
          </a:p>
          <a:p>
            <a:r>
              <a:rPr sz="1150" b="1" dirty="0"/>
              <a:t>Streamlined Journey: </a:t>
            </a:r>
            <a:r>
              <a:rPr sz="1150" b="0" dirty="0"/>
              <a:t>Offers direct 'Get Started' action leading students into personalized study track selection.</a:t>
            </a:r>
          </a:p>
          <a:p>
            <a:pPr>
              <a:defRPr sz="400"/>
            </a:pPr>
            <a:endParaRPr sz="1250" b="0" dirty="0"/>
          </a:p>
          <a:p>
            <a:r>
              <a:rPr sz="1150" b="1" dirty="0"/>
              <a:t>Modern Design: </a:t>
            </a:r>
            <a:r>
              <a:rPr sz="1150" b="0" dirty="0"/>
              <a:t>Vibrant hero graphics, fluid typography, and clean Material Design 3 aesthetic.</a:t>
            </a:r>
          </a:p>
        </p:txBody>
      </p:sp>
      <p:pic>
        <p:nvPicPr>
          <p:cNvPr id="4" name="Picture 3" descr="01_onboarding.png"/>
          <p:cNvPicPr>
            <a:picLocks noChangeAspect="1"/>
          </p:cNvPicPr>
          <p:nvPr/>
        </p:nvPicPr>
        <p:blipFill>
          <a:blip r:embed="rId2"/>
          <a:stretch>
            <a:fillRect/>
          </a:stretch>
        </p:blipFill>
        <p:spPr>
          <a:xfrm>
            <a:off x="6291141" y="1329775"/>
            <a:ext cx="2139696" cy="347472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4.2.2 User Authentication and Sign-in Screen</a:t>
            </a:r>
          </a:p>
        </p:txBody>
      </p:sp>
      <p:sp>
        <p:nvSpPr>
          <p:cNvPr id="3" name="TextBox 2"/>
          <p:cNvSpPr txBox="1"/>
          <p:nvPr/>
        </p:nvSpPr>
        <p:spPr>
          <a:xfrm>
            <a:off x="534889" y="1800200"/>
            <a:ext cx="5394960" cy="3474720"/>
          </a:xfrm>
          <a:prstGeom prst="rect">
            <a:avLst/>
          </a:prstGeom>
          <a:noFill/>
        </p:spPr>
        <p:txBody>
          <a:bodyPr wrap="square">
            <a:spAutoFit/>
          </a:bodyPr>
          <a:lstStyle/>
          <a:p>
            <a:r>
              <a:rPr sz="1150" b="1" dirty="0"/>
              <a:t>Secure User Authentication :-</a:t>
            </a:r>
          </a:p>
          <a:p>
            <a:pPr>
              <a:defRPr sz="400"/>
            </a:pPr>
            <a:endParaRPr sz="1450" b="1" dirty="0"/>
          </a:p>
          <a:p>
            <a:r>
              <a:rPr sz="1150" b="1" dirty="0"/>
              <a:t>Dual-Mode Authentication: </a:t>
            </a:r>
            <a:r>
              <a:rPr sz="1150" b="0" dirty="0"/>
              <a:t>Intuitive tabbed switching between User Login and New Account Registration.</a:t>
            </a:r>
          </a:p>
          <a:p>
            <a:pPr>
              <a:defRPr sz="400"/>
            </a:pPr>
            <a:endParaRPr sz="1250" b="0" dirty="0"/>
          </a:p>
          <a:p>
            <a:r>
              <a:rPr sz="1150" b="1" dirty="0"/>
              <a:t>Google OAuth SSO: </a:t>
            </a:r>
            <a:r>
              <a:rPr sz="1150" b="0" dirty="0"/>
              <a:t>One-tap Google Sign-In integration for frictionless, </a:t>
            </a:r>
            <a:r>
              <a:rPr sz="1150" b="0" dirty="0" err="1"/>
              <a:t>passwordless</a:t>
            </a:r>
            <a:r>
              <a:rPr sz="1150" b="0" dirty="0"/>
              <a:t> student access.</a:t>
            </a:r>
          </a:p>
          <a:p>
            <a:pPr>
              <a:defRPr sz="400"/>
            </a:pPr>
            <a:endParaRPr sz="1250" b="0" dirty="0"/>
          </a:p>
          <a:p>
            <a:r>
              <a:rPr sz="1150" b="1" dirty="0"/>
              <a:t>Client-Side Validation: </a:t>
            </a:r>
            <a:r>
              <a:rPr sz="1150" b="0" dirty="0"/>
              <a:t>Live email regex checking and real-time password constraint feedback with visibility toggle.</a:t>
            </a:r>
          </a:p>
          <a:p>
            <a:pPr>
              <a:defRPr sz="400"/>
            </a:pPr>
            <a:endParaRPr sz="1250" b="0" dirty="0"/>
          </a:p>
          <a:p>
            <a:r>
              <a:rPr sz="1150" b="1" dirty="0"/>
              <a:t>Backend Security: </a:t>
            </a:r>
            <a:r>
              <a:rPr sz="1150" b="0" dirty="0"/>
              <a:t>Credentials verified against </a:t>
            </a:r>
            <a:r>
              <a:rPr sz="1150" b="0" dirty="0" err="1"/>
              <a:t>bcrypt</a:t>
            </a:r>
            <a:r>
              <a:rPr sz="1150" b="0" dirty="0"/>
              <a:t>-hashed passwords in MongoDB with secure JWT token issuance.</a:t>
            </a:r>
          </a:p>
        </p:txBody>
      </p:sp>
      <p:pic>
        <p:nvPicPr>
          <p:cNvPr id="4" name="Picture 3" descr="02_login.png"/>
          <p:cNvPicPr>
            <a:picLocks noChangeAspect="1"/>
          </p:cNvPicPr>
          <p:nvPr/>
        </p:nvPicPr>
        <p:blipFill>
          <a:blip r:embed="rId2"/>
          <a:stretch>
            <a:fillRect/>
          </a:stretch>
        </p:blipFill>
        <p:spPr>
          <a:xfrm>
            <a:off x="6318161" y="1523541"/>
            <a:ext cx="2139696" cy="347472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4.2.3 Student Dashboard &amp; Learning Hub</a:t>
            </a:r>
          </a:p>
        </p:txBody>
      </p:sp>
      <p:sp>
        <p:nvSpPr>
          <p:cNvPr id="3" name="TextBox 2"/>
          <p:cNvSpPr txBox="1"/>
          <p:nvPr/>
        </p:nvSpPr>
        <p:spPr>
          <a:xfrm>
            <a:off x="466138" y="1668780"/>
            <a:ext cx="5394960" cy="3474720"/>
          </a:xfrm>
          <a:prstGeom prst="rect">
            <a:avLst/>
          </a:prstGeom>
          <a:noFill/>
        </p:spPr>
        <p:txBody>
          <a:bodyPr wrap="square">
            <a:spAutoFit/>
          </a:bodyPr>
          <a:lstStyle/>
          <a:p>
            <a:r>
              <a:rPr sz="1150" b="1" dirty="0"/>
              <a:t>Central Student Learning Hub :-</a:t>
            </a:r>
          </a:p>
          <a:p>
            <a:pPr>
              <a:defRPr sz="400"/>
            </a:pPr>
            <a:endParaRPr sz="1450" b="1" dirty="0"/>
          </a:p>
          <a:p>
            <a:r>
              <a:rPr sz="1150" b="1" dirty="0"/>
              <a:t>Dynamic Stage Selector: </a:t>
            </a:r>
            <a:r>
              <a:rPr sz="1150" b="0" dirty="0"/>
              <a:t>Enables seamless switching between GTU Engineering and Gujarat School (GSEB) curriculum stages.</a:t>
            </a:r>
          </a:p>
          <a:p>
            <a:pPr>
              <a:defRPr sz="400"/>
            </a:pPr>
            <a:endParaRPr sz="1250" b="0" dirty="0"/>
          </a:p>
          <a:p>
            <a:r>
              <a:rPr sz="1150" b="1" dirty="0"/>
              <a:t>Daily Streak &amp; Readiness: </a:t>
            </a:r>
            <a:r>
              <a:rPr sz="1150" b="0" dirty="0"/>
              <a:t>Gamified streak counter tracking daily study habits and overall exam readiness score.</a:t>
            </a:r>
          </a:p>
          <a:p>
            <a:pPr>
              <a:defRPr sz="400"/>
            </a:pPr>
            <a:endParaRPr sz="1250" b="0" dirty="0"/>
          </a:p>
          <a:p>
            <a:r>
              <a:rPr sz="1150" b="1" dirty="0"/>
              <a:t>Quick Action Grid: </a:t>
            </a:r>
            <a:r>
              <a:rPr sz="1150" b="0" dirty="0"/>
              <a:t>Direct one-tap tiles to Timed Mock Exams, AI Doubt Solver, Video Classes, and Flashcards.</a:t>
            </a:r>
          </a:p>
          <a:p>
            <a:pPr>
              <a:defRPr sz="400"/>
            </a:pPr>
            <a:endParaRPr sz="1250" b="0" dirty="0"/>
          </a:p>
          <a:p>
            <a:r>
              <a:rPr sz="1150" b="1" dirty="0"/>
              <a:t>Weak Spot Alert Banner: </a:t>
            </a:r>
            <a:r>
              <a:rPr sz="1150" b="0" dirty="0"/>
              <a:t>Proactive warning highlighting topics where accuracy fell below 60% for immediate revision.</a:t>
            </a:r>
          </a:p>
        </p:txBody>
      </p:sp>
      <p:pic>
        <p:nvPicPr>
          <p:cNvPr id="4" name="Picture 3" descr="03_dashboard_home.png"/>
          <p:cNvPicPr>
            <a:picLocks noChangeAspect="1"/>
          </p:cNvPicPr>
          <p:nvPr/>
        </p:nvPicPr>
        <p:blipFill>
          <a:blip r:embed="rId2"/>
          <a:stretch>
            <a:fillRect/>
          </a:stretch>
        </p:blipFill>
        <p:spPr>
          <a:xfrm>
            <a:off x="6263640" y="1104155"/>
            <a:ext cx="2139696" cy="34747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4.2.4 Course Catalog &amp; Chapter Navigator</a:t>
            </a:r>
          </a:p>
        </p:txBody>
      </p:sp>
      <p:sp>
        <p:nvSpPr>
          <p:cNvPr id="3" name="TextBox 2"/>
          <p:cNvSpPr txBox="1"/>
          <p:nvPr/>
        </p:nvSpPr>
        <p:spPr>
          <a:xfrm>
            <a:off x="514264" y="1732204"/>
            <a:ext cx="5394960" cy="3474720"/>
          </a:xfrm>
          <a:prstGeom prst="rect">
            <a:avLst/>
          </a:prstGeom>
          <a:noFill/>
        </p:spPr>
        <p:txBody>
          <a:bodyPr wrap="square">
            <a:spAutoFit/>
          </a:bodyPr>
          <a:lstStyle/>
          <a:p>
            <a:r>
              <a:rPr sz="1150" b="1" dirty="0"/>
              <a:t>Curriculum Catalog &amp; Digital Textbooks :-</a:t>
            </a:r>
          </a:p>
          <a:p>
            <a:pPr>
              <a:defRPr sz="400"/>
            </a:pPr>
            <a:endParaRPr sz="1450" b="1" dirty="0"/>
          </a:p>
          <a:p>
            <a:r>
              <a:rPr sz="1150" b="1" dirty="0"/>
              <a:t>Subject-Wise Tabs: </a:t>
            </a:r>
            <a:r>
              <a:rPr sz="1150" b="0" dirty="0"/>
              <a:t>Organized course browsing across Mathematics, Science, Social Science, and Engineering modules.</a:t>
            </a:r>
          </a:p>
          <a:p>
            <a:pPr>
              <a:defRPr sz="400"/>
            </a:pPr>
            <a:endParaRPr sz="1250" b="0" dirty="0"/>
          </a:p>
          <a:p>
            <a:r>
              <a:rPr sz="1150" b="1" dirty="0"/>
              <a:t>Official e-Textbooks: </a:t>
            </a:r>
            <a:r>
              <a:rPr sz="1150" b="0" dirty="0"/>
              <a:t>Direct digital links to official NCERT and GSEB Gujarat State textbooks.</a:t>
            </a:r>
          </a:p>
          <a:p>
            <a:pPr>
              <a:defRPr sz="400"/>
            </a:pPr>
            <a:endParaRPr sz="1250" b="0" dirty="0"/>
          </a:p>
          <a:p>
            <a:r>
              <a:rPr sz="1150" b="1" dirty="0"/>
              <a:t>Chapter Progression: </a:t>
            </a:r>
            <a:r>
              <a:rPr sz="1150" b="0" dirty="0"/>
              <a:t>Visual completion progress bars for each chapter and topic submodule.</a:t>
            </a:r>
          </a:p>
          <a:p>
            <a:pPr>
              <a:defRPr sz="400"/>
            </a:pPr>
            <a:endParaRPr sz="1250" b="0" dirty="0"/>
          </a:p>
          <a:p>
            <a:r>
              <a:rPr sz="1150" b="1" dirty="0"/>
              <a:t>Integrated Resources: </a:t>
            </a:r>
            <a:r>
              <a:rPr sz="1150" b="0" dirty="0"/>
              <a:t>Quick access to chapter formula sheets, summary notes, and foundational MCQs.</a:t>
            </a:r>
          </a:p>
        </p:txBody>
      </p:sp>
      <p:pic>
        <p:nvPicPr>
          <p:cNvPr id="4" name="Picture 3" descr="04_course_catalog.png"/>
          <p:cNvPicPr>
            <a:picLocks noChangeAspect="1"/>
          </p:cNvPicPr>
          <p:nvPr/>
        </p:nvPicPr>
        <p:blipFill>
          <a:blip r:embed="rId2"/>
          <a:stretch>
            <a:fillRect/>
          </a:stretch>
        </p:blipFill>
        <p:spPr>
          <a:xfrm>
            <a:off x="6263640" y="1097280"/>
            <a:ext cx="2139696" cy="347472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4.2.5 Interactive Video Lecture Player</a:t>
            </a:r>
          </a:p>
        </p:txBody>
      </p:sp>
      <p:sp>
        <p:nvSpPr>
          <p:cNvPr id="3" name="TextBox 2"/>
          <p:cNvSpPr txBox="1"/>
          <p:nvPr/>
        </p:nvSpPr>
        <p:spPr>
          <a:xfrm>
            <a:off x="541765" y="1675655"/>
            <a:ext cx="5394960" cy="3474720"/>
          </a:xfrm>
          <a:prstGeom prst="rect">
            <a:avLst/>
          </a:prstGeom>
          <a:noFill/>
        </p:spPr>
        <p:txBody>
          <a:bodyPr wrap="square">
            <a:spAutoFit/>
          </a:bodyPr>
          <a:lstStyle/>
          <a:p>
            <a:r>
              <a:rPr sz="1150" b="1" dirty="0"/>
              <a:t>High-Definition Video Masterclasses :-</a:t>
            </a:r>
          </a:p>
          <a:p>
            <a:pPr>
              <a:defRPr sz="400"/>
            </a:pPr>
            <a:endParaRPr sz="1450" b="1" dirty="0"/>
          </a:p>
          <a:p>
            <a:r>
              <a:rPr sz="1150" b="1" dirty="0"/>
              <a:t>Curated Video Lessons: </a:t>
            </a:r>
            <a:r>
              <a:rPr sz="1150" b="0" dirty="0"/>
              <a:t>Embedded YouTube video lectures aligned with specific syllabus chapters and topic goals.</a:t>
            </a:r>
          </a:p>
          <a:p>
            <a:pPr>
              <a:defRPr sz="400"/>
            </a:pPr>
            <a:endParaRPr sz="1250" b="0" dirty="0"/>
          </a:p>
          <a:p>
            <a:r>
              <a:rPr sz="1150" b="1" dirty="0"/>
              <a:t>Instructor Credentials: </a:t>
            </a:r>
            <a:r>
              <a:rPr sz="1150" b="0" dirty="0"/>
              <a:t>Displays educator profile, lesson objectives, and lecture duration timestamps.</a:t>
            </a:r>
          </a:p>
          <a:p>
            <a:pPr>
              <a:defRPr sz="400"/>
            </a:pPr>
            <a:endParaRPr sz="1250" b="0" dirty="0"/>
          </a:p>
          <a:p>
            <a:r>
              <a:rPr sz="1150" b="1" dirty="0"/>
              <a:t>Advanced Controls: </a:t>
            </a:r>
            <a:r>
              <a:rPr sz="1150" b="0" dirty="0"/>
              <a:t>Supports variable playback speed (0.75x to 2x), landscape full-screen, and quick rewind/fast-forward.</a:t>
            </a:r>
          </a:p>
          <a:p>
            <a:pPr>
              <a:defRPr sz="400"/>
            </a:pPr>
            <a:endParaRPr sz="1250" b="0" dirty="0"/>
          </a:p>
          <a:p>
            <a:r>
              <a:rPr sz="1150" b="1" dirty="0"/>
              <a:t>Topic Bookmarking: </a:t>
            </a:r>
            <a:r>
              <a:rPr sz="1150" b="0" dirty="0"/>
              <a:t>Allows students to bookmark critical video segments and view synchronized topic notes.</a:t>
            </a:r>
          </a:p>
        </p:txBody>
      </p:sp>
      <p:pic>
        <p:nvPicPr>
          <p:cNvPr id="4" name="Picture 3" descr="05_video_learning.png"/>
          <p:cNvPicPr>
            <a:picLocks noChangeAspect="1"/>
          </p:cNvPicPr>
          <p:nvPr/>
        </p:nvPicPr>
        <p:blipFill>
          <a:blip r:embed="rId2"/>
          <a:stretch>
            <a:fillRect/>
          </a:stretch>
        </p:blipFill>
        <p:spPr>
          <a:xfrm>
            <a:off x="6263640" y="1097280"/>
            <a:ext cx="2139696" cy="34747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4.2.6 Real-Time Timed Mock Exam Engine</a:t>
            </a:r>
          </a:p>
        </p:txBody>
      </p:sp>
      <p:sp>
        <p:nvSpPr>
          <p:cNvPr id="3" name="TextBox 2"/>
          <p:cNvSpPr txBox="1"/>
          <p:nvPr/>
        </p:nvSpPr>
        <p:spPr>
          <a:xfrm>
            <a:off x="466138" y="1605941"/>
            <a:ext cx="5394960" cy="3474720"/>
          </a:xfrm>
          <a:prstGeom prst="rect">
            <a:avLst/>
          </a:prstGeom>
          <a:noFill/>
        </p:spPr>
        <p:txBody>
          <a:bodyPr wrap="square">
            <a:spAutoFit/>
          </a:bodyPr>
          <a:lstStyle/>
          <a:p>
            <a:r>
              <a:rPr sz="1150" b="1" dirty="0"/>
              <a:t>Recruitment &amp; Competitive Exam Simulation :-</a:t>
            </a:r>
          </a:p>
          <a:p>
            <a:pPr>
              <a:defRPr sz="400"/>
            </a:pPr>
            <a:endParaRPr sz="1450" b="1" dirty="0"/>
          </a:p>
          <a:p>
            <a:r>
              <a:rPr sz="1150" b="1" dirty="0"/>
              <a:t>Real-World Simulation: </a:t>
            </a:r>
            <a:r>
              <a:rPr sz="1150" b="0" dirty="0"/>
              <a:t>Timed test engine mirroring TCS, Infosys, and Amazon campus recruitment patterns.</a:t>
            </a:r>
          </a:p>
          <a:p>
            <a:pPr>
              <a:defRPr sz="400"/>
            </a:pPr>
            <a:endParaRPr sz="1250" b="0" dirty="0"/>
          </a:p>
          <a:p>
            <a:r>
              <a:rPr sz="1150" b="1" dirty="0"/>
              <a:t>Live Countdown Timer: </a:t>
            </a:r>
            <a:r>
              <a:rPr sz="1150" b="0" dirty="0"/>
              <a:t>Visible countdown header with automatic submission when time expires.</a:t>
            </a:r>
          </a:p>
          <a:p>
            <a:pPr>
              <a:defRPr sz="400"/>
            </a:pPr>
            <a:endParaRPr sz="1250" b="0" dirty="0"/>
          </a:p>
          <a:p>
            <a:r>
              <a:rPr sz="1150" b="1" dirty="0"/>
              <a:t>Interactive Question Palette: </a:t>
            </a:r>
            <a:r>
              <a:rPr sz="1150" b="0" dirty="0"/>
              <a:t>Color-coded drawer indicating Attempted (Green), Marked for Review (Yellow), and Unvisited (Gray).</a:t>
            </a:r>
          </a:p>
          <a:p>
            <a:pPr>
              <a:defRPr sz="400"/>
            </a:pPr>
            <a:endParaRPr sz="1250" b="0" dirty="0"/>
          </a:p>
          <a:p>
            <a:r>
              <a:rPr sz="1150" b="1" dirty="0"/>
              <a:t>In-Exam Scratchpad: </a:t>
            </a:r>
            <a:r>
              <a:rPr sz="1150" b="0" dirty="0"/>
              <a:t>Built-in scratchpad tool for calculations and rough work directly inside the mobile app.</a:t>
            </a:r>
          </a:p>
        </p:txBody>
      </p:sp>
      <p:pic>
        <p:nvPicPr>
          <p:cNvPr id="4" name="Picture 3" descr="06_mock_exam.png"/>
          <p:cNvPicPr>
            <a:picLocks noChangeAspect="1"/>
          </p:cNvPicPr>
          <p:nvPr/>
        </p:nvPicPr>
        <p:blipFill>
          <a:blip r:embed="rId2"/>
          <a:stretch>
            <a:fillRect/>
          </a:stretch>
        </p:blipFill>
        <p:spPr>
          <a:xfrm>
            <a:off x="6263640" y="1097280"/>
            <a:ext cx="2139696" cy="34747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4.2.7 AI Doubt Solver &amp; Camera Scanner</a:t>
            </a:r>
          </a:p>
        </p:txBody>
      </p:sp>
      <p:sp>
        <p:nvSpPr>
          <p:cNvPr id="3" name="TextBox 2"/>
          <p:cNvSpPr txBox="1"/>
          <p:nvPr/>
        </p:nvSpPr>
        <p:spPr>
          <a:xfrm>
            <a:off x="521140" y="1605941"/>
            <a:ext cx="5394960" cy="3474720"/>
          </a:xfrm>
          <a:prstGeom prst="rect">
            <a:avLst/>
          </a:prstGeom>
          <a:noFill/>
        </p:spPr>
        <p:txBody>
          <a:bodyPr wrap="square">
            <a:spAutoFit/>
          </a:bodyPr>
          <a:lstStyle/>
          <a:p>
            <a:r>
              <a:rPr sz="1150" b="1" dirty="0"/>
              <a:t>AI-Powered Doubt Clearing &amp; OCR :-</a:t>
            </a:r>
          </a:p>
          <a:p>
            <a:pPr>
              <a:defRPr sz="400"/>
            </a:pPr>
            <a:endParaRPr sz="1450" b="1" dirty="0"/>
          </a:p>
          <a:p>
            <a:r>
              <a:rPr sz="1150" b="1" dirty="0"/>
              <a:t>Multi-Modal Query Input: </a:t>
            </a:r>
            <a:r>
              <a:rPr sz="1150" b="0" dirty="0"/>
              <a:t>Ask academic doubts via typed text, voice recognition, or camera snapshot.</a:t>
            </a:r>
          </a:p>
          <a:p>
            <a:pPr>
              <a:defRPr sz="400"/>
            </a:pPr>
            <a:endParaRPr sz="1250" b="0" dirty="0"/>
          </a:p>
          <a:p>
            <a:r>
              <a:rPr sz="1150" b="1" dirty="0"/>
              <a:t>Camera OCR Extraction: </a:t>
            </a:r>
            <a:r>
              <a:rPr sz="1150" b="0" dirty="0"/>
              <a:t>Extracts textbook questions from photos and matches them against verified question database.</a:t>
            </a:r>
          </a:p>
          <a:p>
            <a:pPr>
              <a:defRPr sz="400"/>
            </a:pPr>
            <a:endParaRPr sz="1250" b="0" dirty="0"/>
          </a:p>
          <a:p>
            <a:r>
              <a:rPr sz="1150" b="1" dirty="0"/>
              <a:t>Step-by-Step Solutions: </a:t>
            </a:r>
            <a:r>
              <a:rPr sz="1150" b="0" dirty="0"/>
              <a:t>Returns structured mathematical proofs, reasoning steps, and conceptual explanations.</a:t>
            </a:r>
          </a:p>
          <a:p>
            <a:pPr>
              <a:defRPr sz="400"/>
            </a:pPr>
            <a:endParaRPr sz="1250" b="0" dirty="0"/>
          </a:p>
          <a:p>
            <a:r>
              <a:rPr sz="1150" b="1" dirty="0"/>
              <a:t>Related Practice Problems: </a:t>
            </a:r>
            <a:r>
              <a:rPr sz="1150" b="0" dirty="0"/>
              <a:t>Automatically suggests similar difficulty practice MCQs to solidify the concept.</a:t>
            </a:r>
          </a:p>
        </p:txBody>
      </p:sp>
      <p:pic>
        <p:nvPicPr>
          <p:cNvPr id="4" name="Picture 3" descr="10_doubt_solver.png"/>
          <p:cNvPicPr>
            <a:picLocks noChangeAspect="1"/>
          </p:cNvPicPr>
          <p:nvPr/>
        </p:nvPicPr>
        <p:blipFill>
          <a:blip r:embed="rId2"/>
          <a:stretch>
            <a:fillRect/>
          </a:stretch>
        </p:blipFill>
        <p:spPr>
          <a:xfrm>
            <a:off x="6263640" y="1097280"/>
            <a:ext cx="2139696" cy="34747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4.2.8 Student Profile, Badges &amp; Theme Configuration</a:t>
            </a:r>
          </a:p>
        </p:txBody>
      </p:sp>
      <p:sp>
        <p:nvSpPr>
          <p:cNvPr id="3" name="TextBox 2"/>
          <p:cNvSpPr txBox="1"/>
          <p:nvPr/>
        </p:nvSpPr>
        <p:spPr>
          <a:xfrm>
            <a:off x="555515" y="1800200"/>
            <a:ext cx="5394960" cy="3474720"/>
          </a:xfrm>
          <a:prstGeom prst="rect">
            <a:avLst/>
          </a:prstGeom>
          <a:noFill/>
        </p:spPr>
        <p:txBody>
          <a:bodyPr wrap="square">
            <a:spAutoFit/>
          </a:bodyPr>
          <a:lstStyle/>
          <a:p>
            <a:r>
              <a:rPr sz="1150" b="1" dirty="0"/>
              <a:t>Student Profile &amp; Gamification :-</a:t>
            </a:r>
          </a:p>
          <a:p>
            <a:pPr>
              <a:defRPr sz="400"/>
            </a:pPr>
            <a:endParaRPr sz="1450" b="1" dirty="0"/>
          </a:p>
          <a:p>
            <a:r>
              <a:rPr sz="1150" b="1" dirty="0"/>
              <a:t>Academic Credentials: </a:t>
            </a:r>
            <a:r>
              <a:rPr sz="1150" b="0" dirty="0"/>
              <a:t>Displays student verification status, current syllabus stage, and overall exam percentile.</a:t>
            </a:r>
          </a:p>
          <a:p>
            <a:pPr>
              <a:defRPr sz="400"/>
            </a:pPr>
            <a:endParaRPr sz="1250" b="0" dirty="0"/>
          </a:p>
          <a:p>
            <a:r>
              <a:rPr sz="1150" b="1" dirty="0"/>
              <a:t>Milestone Badges: </a:t>
            </a:r>
            <a:r>
              <a:rPr sz="1150" b="0" dirty="0"/>
              <a:t>Gamification trophies recognizing study streaks, test completions, and category mastery.</a:t>
            </a:r>
          </a:p>
          <a:p>
            <a:pPr>
              <a:defRPr sz="400"/>
            </a:pPr>
            <a:endParaRPr sz="1250" b="0" dirty="0"/>
          </a:p>
          <a:p>
            <a:r>
              <a:rPr sz="1150" b="1" dirty="0"/>
              <a:t>Theme Personalization: </a:t>
            </a:r>
            <a:r>
              <a:rPr sz="1150" b="0" dirty="0"/>
              <a:t>One-tap toggle between sleek Dark Mode and high-contrast Light Mode.</a:t>
            </a:r>
          </a:p>
          <a:p>
            <a:pPr>
              <a:defRPr sz="400"/>
            </a:pPr>
            <a:endParaRPr sz="1250" b="0" dirty="0"/>
          </a:p>
          <a:p>
            <a:r>
              <a:rPr sz="1150" b="1" dirty="0"/>
              <a:t>Session &amp; Offline Sync: </a:t>
            </a:r>
            <a:r>
              <a:rPr sz="1150" b="0" dirty="0"/>
              <a:t>Shows local cache synchronization status and provides secure account logout.</a:t>
            </a:r>
          </a:p>
        </p:txBody>
      </p:sp>
      <p:pic>
        <p:nvPicPr>
          <p:cNvPr id="4" name="Picture 3" descr="13_student_profile.png"/>
          <p:cNvPicPr>
            <a:picLocks noChangeAspect="1"/>
          </p:cNvPicPr>
          <p:nvPr/>
        </p:nvPicPr>
        <p:blipFill>
          <a:blip r:embed="rId2"/>
          <a:stretch>
            <a:fillRect/>
          </a:stretch>
        </p:blipFill>
        <p:spPr>
          <a:xfrm>
            <a:off x="6277390" y="1356177"/>
            <a:ext cx="2139696" cy="347472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b="1"/>
              <a:t>5. Agile Documentation</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8046720" cy="594360"/>
          </a:xfrm>
        </p:spPr>
        <p:txBody>
          <a:bodyPr/>
          <a:lstStyle/>
          <a:p>
            <a:r>
              <a:t>5.1 Agile Project Charter</a:t>
            </a:r>
          </a:p>
        </p:txBody>
      </p:sp>
      <p:pic>
        <p:nvPicPr>
          <p:cNvPr id="5" name="Picture 4">
            <a:extLst>
              <a:ext uri="{FF2B5EF4-FFF2-40B4-BE49-F238E27FC236}">
                <a16:creationId xmlns:a16="http://schemas.microsoft.com/office/drawing/2014/main" id="{E9A8670F-A9FE-0484-C2C6-0B14A2740476}"/>
              </a:ext>
            </a:extLst>
          </p:cNvPr>
          <p:cNvPicPr>
            <a:picLocks noChangeAspect="1"/>
          </p:cNvPicPr>
          <p:nvPr/>
        </p:nvPicPr>
        <p:blipFill>
          <a:blip r:embed="rId2"/>
          <a:stretch>
            <a:fillRect/>
          </a:stretch>
        </p:blipFill>
        <p:spPr>
          <a:xfrm>
            <a:off x="2053371" y="1127531"/>
            <a:ext cx="5037257" cy="339129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8046720" cy="594360"/>
          </a:xfrm>
        </p:spPr>
        <p:txBody>
          <a:bodyPr/>
          <a:lstStyle/>
          <a:p>
            <a:r>
              <a:t>5.2 Agile Roadmap / Schedule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8046720" cy="594360"/>
          </a:xfrm>
        </p:spPr>
        <p:txBody>
          <a:bodyPr/>
          <a:lstStyle/>
          <a:p>
            <a:r>
              <a:t>5.3 Agile Project Plan</a:t>
            </a:r>
          </a:p>
        </p:txBody>
      </p:sp>
      <p:pic>
        <p:nvPicPr>
          <p:cNvPr id="5" name="Picture 4">
            <a:extLst>
              <a:ext uri="{FF2B5EF4-FFF2-40B4-BE49-F238E27FC236}">
                <a16:creationId xmlns:a16="http://schemas.microsoft.com/office/drawing/2014/main" id="{63186D15-2804-E368-8621-2E521103A09B}"/>
              </a:ext>
            </a:extLst>
          </p:cNvPr>
          <p:cNvPicPr>
            <a:picLocks noChangeAspect="1"/>
          </p:cNvPicPr>
          <p:nvPr/>
        </p:nvPicPr>
        <p:blipFill>
          <a:blip r:embed="rId2"/>
          <a:stretch>
            <a:fillRect/>
          </a:stretch>
        </p:blipFill>
        <p:spPr>
          <a:xfrm>
            <a:off x="1486628" y="960120"/>
            <a:ext cx="6170743" cy="381762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8046720" cy="594360"/>
          </a:xfrm>
        </p:spPr>
        <p:txBody>
          <a:bodyPr/>
          <a:lstStyle/>
          <a:p>
            <a:r>
              <a:t>5.4 User Stories</a:t>
            </a:r>
          </a:p>
        </p:txBody>
      </p:sp>
      <p:pic>
        <p:nvPicPr>
          <p:cNvPr id="5" name="Picture 4">
            <a:extLst>
              <a:ext uri="{FF2B5EF4-FFF2-40B4-BE49-F238E27FC236}">
                <a16:creationId xmlns:a16="http://schemas.microsoft.com/office/drawing/2014/main" id="{AEE125E5-67F0-0ED3-1D31-564CCA4D821E}"/>
              </a:ext>
            </a:extLst>
          </p:cNvPr>
          <p:cNvPicPr>
            <a:picLocks noChangeAspect="1"/>
          </p:cNvPicPr>
          <p:nvPr/>
        </p:nvPicPr>
        <p:blipFill>
          <a:blip r:embed="rId2"/>
          <a:stretch>
            <a:fillRect/>
          </a:stretch>
        </p:blipFill>
        <p:spPr>
          <a:xfrm>
            <a:off x="239654" y="1434533"/>
            <a:ext cx="8664691" cy="272819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8046720" cy="594360"/>
          </a:xfrm>
        </p:spPr>
        <p:txBody>
          <a:bodyPr/>
          <a:lstStyle/>
          <a:p>
            <a:r>
              <a:t>5.5 Release Plan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8046720" cy="594360"/>
          </a:xfrm>
        </p:spPr>
        <p:txBody>
          <a:bodyPr>
            <a:normAutofit fontScale="90000"/>
          </a:bodyPr>
          <a:lstStyle/>
          <a:p>
            <a:r>
              <a:t>5.6 Product Backlog &amp; Sprint Backlog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8046720" cy="594360"/>
          </a:xfrm>
        </p:spPr>
        <p:txBody>
          <a:bodyPr/>
          <a:lstStyle/>
          <a:p>
            <a:r>
              <a:t>5.7 Test Plan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8046720" cy="594360"/>
          </a:xfrm>
        </p:spPr>
        <p:txBody>
          <a:bodyPr/>
          <a:lstStyle/>
          <a:p>
            <a:r>
              <a:t>5.8 Burndown Chart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5000" b="1"/>
              <a:t>Thank You!</a:t>
            </a:r>
          </a:p>
        </p:txBody>
      </p:sp>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814</TotalTime>
  <Words>2378</Words>
  <Application>Microsoft Office PowerPoint</Application>
  <PresentationFormat>On-screen Show (16:9)</PresentationFormat>
  <Paragraphs>359</Paragraphs>
  <Slides>44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Wingdings</vt:lpstr>
      <vt:lpstr>Calibri</vt:lpstr>
      <vt:lpstr>Arial</vt:lpstr>
      <vt:lpstr>Nunito</vt:lpstr>
      <vt:lpstr>Shift</vt:lpstr>
      <vt:lpstr>MindSprint</vt:lpstr>
      <vt:lpstr>1. Introduction</vt:lpstr>
      <vt:lpstr>1.1 Existing System</vt:lpstr>
      <vt:lpstr>1.2 Need for the New System </vt:lpstr>
      <vt:lpstr>1.3 Objective of the New System</vt:lpstr>
      <vt:lpstr>1.4 Problem Definition</vt:lpstr>
      <vt:lpstr>1.5 Core Components</vt:lpstr>
      <vt:lpstr>1.6 Project Profile</vt:lpstr>
      <vt:lpstr>1.7 Assumptions and Constraints</vt:lpstr>
      <vt:lpstr>1.8 Advantages and Limitations of the Proposed System</vt:lpstr>
      <vt:lpstr>2. Requirement Determination &amp; Analysis</vt:lpstr>
      <vt:lpstr>2.1 Requirement Determination</vt:lpstr>
      <vt:lpstr>2.1 Requirement Determination</vt:lpstr>
      <vt:lpstr>2.2 Targeted Users</vt:lpstr>
      <vt:lpstr>3. System Design</vt:lpstr>
      <vt:lpstr>3.1 Use Case Diagram</vt:lpstr>
      <vt:lpstr>3.2 Class Diagram</vt:lpstr>
      <vt:lpstr>3.3 Interaction Diagram (Sequence Diagram)</vt:lpstr>
      <vt:lpstr>3.4 Activity Diagram</vt:lpstr>
      <vt:lpstr>3.5 Data Dictionary</vt:lpstr>
      <vt:lpstr>3.5 Data Dictionary</vt:lpstr>
      <vt:lpstr>3.5 Data Dictionary</vt:lpstr>
      <vt:lpstr>3.5 Data Dictionary</vt:lpstr>
      <vt:lpstr>4. Development</vt:lpstr>
      <vt:lpstr>4.1 Coding Standards</vt:lpstr>
      <vt:lpstr>4.1 Coding Standards</vt:lpstr>
      <vt:lpstr>4.2.1 Welcome and Onboarding Screen</vt:lpstr>
      <vt:lpstr>4.2.2 User Authentication and Sign-in Screen</vt:lpstr>
      <vt:lpstr>4.2.3 Student Dashboard &amp; Learning Hub</vt:lpstr>
      <vt:lpstr>4.2.4 Course Catalog &amp; Chapter Navigator</vt:lpstr>
      <vt:lpstr>4.2.5 Interactive Video Lecture Player</vt:lpstr>
      <vt:lpstr>4.2.6 Real-Time Timed Mock Exam Engine</vt:lpstr>
      <vt:lpstr>4.2.7 AI Doubt Solver &amp; Camera Scanner</vt:lpstr>
      <vt:lpstr>4.2.8 Student Profile, Badges &amp; Theme Configuration</vt:lpstr>
      <vt:lpstr>5. Agile Documentation</vt:lpstr>
      <vt:lpstr>5.1 Agile Project Charter</vt:lpstr>
      <vt:lpstr>5.2 Agile Roadmap / Schedule</vt:lpstr>
      <vt:lpstr>5.3 Agile Project Plan</vt:lpstr>
      <vt:lpstr>5.4 User Stories</vt:lpstr>
      <vt:lpstr>5.5 Release Plan</vt:lpstr>
      <vt:lpstr>5.6 Product Backlog &amp; Sprint Backlog</vt:lpstr>
      <vt:lpstr>5.7 Test Plan</vt:lpstr>
      <vt:lpstr>5.8 Burndown Chart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Dvarkesh Vavaliya</dc:creator>
  <cp:lastModifiedBy>SATISH MANJIBHAI RANGANI</cp:lastModifiedBy>
  <cp:revision>41</cp:revision>
  <dcterms:modified xsi:type="dcterms:W3CDTF">2026-10-15T07:06:38Z</dcterms:modified>
</cp:coreProperties>
</file>