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6"/>
  </p:notesMasterIdLst>
  <p:sldIdLst>
    <p:sldId id="256" r:id="rId2"/>
    <p:sldId id="331" r:id="rId3"/>
    <p:sldId id="330" r:id="rId4"/>
    <p:sldId id="332" r:id="rId5"/>
    <p:sldId id="333" r:id="rId6"/>
    <p:sldId id="334" r:id="rId7"/>
    <p:sldId id="335" r:id="rId8"/>
    <p:sldId id="336" r:id="rId9"/>
    <p:sldId id="337" r:id="rId10"/>
    <p:sldId id="338" r:id="rId11"/>
    <p:sldId id="340" r:id="rId12"/>
    <p:sldId id="339" r:id="rId13"/>
    <p:sldId id="341" r:id="rId14"/>
    <p:sldId id="342" r:id="rId15"/>
    <p:sldId id="300" r:id="rId16"/>
    <p:sldId id="343" r:id="rId17"/>
    <p:sldId id="344" r:id="rId18"/>
    <p:sldId id="345" r:id="rId19"/>
    <p:sldId id="346" r:id="rId20"/>
    <p:sldId id="347" r:id="rId21"/>
    <p:sldId id="348" r:id="rId22"/>
    <p:sldId id="349" r:id="rId23"/>
    <p:sldId id="350" r:id="rId24"/>
    <p:sldId id="375" r:id="rId25"/>
    <p:sldId id="376" r:id="rId26"/>
    <p:sldId id="377" r:id="rId27"/>
    <p:sldId id="378" r:id="rId28"/>
    <p:sldId id="379" r:id="rId29"/>
    <p:sldId id="380" r:id="rId30"/>
    <p:sldId id="381" r:id="rId31"/>
    <p:sldId id="351" r:id="rId32"/>
    <p:sldId id="352" r:id="rId33"/>
    <p:sldId id="353" r:id="rId34"/>
    <p:sldId id="354" r:id="rId35"/>
    <p:sldId id="355" r:id="rId36"/>
    <p:sldId id="356" r:id="rId37"/>
    <p:sldId id="357" r:id="rId38"/>
    <p:sldId id="358" r:id="rId39"/>
    <p:sldId id="362" r:id="rId40"/>
    <p:sldId id="363" r:id="rId41"/>
    <p:sldId id="364" r:id="rId42"/>
    <p:sldId id="365" r:id="rId43"/>
    <p:sldId id="366" r:id="rId44"/>
    <p:sldId id="367" r:id="rId45"/>
    <p:sldId id="368" r:id="rId46"/>
    <p:sldId id="369" r:id="rId47"/>
    <p:sldId id="370" r:id="rId48"/>
    <p:sldId id="372" r:id="rId49"/>
    <p:sldId id="359" r:id="rId50"/>
    <p:sldId id="373" r:id="rId51"/>
    <p:sldId id="360" r:id="rId52"/>
    <p:sldId id="374" r:id="rId53"/>
    <p:sldId id="361" r:id="rId54"/>
    <p:sldId id="371" r:id="rId55"/>
  </p:sldIdLst>
  <p:sldSz cx="9144000" cy="5143500" type="screen16x9"/>
  <p:notesSz cx="6858000" cy="9144000"/>
  <p:embeddedFontLst>
    <p:embeddedFont>
      <p:font typeface="Nunito" pitchFamily="2" charset="0"/>
      <p:regular r:id="rId57"/>
      <p:bold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78" autoAdjust="0"/>
    <p:restoredTop sz="94660"/>
  </p:normalViewPr>
  <p:slideViewPr>
    <p:cSldViewPr snapToGrid="0">
      <p:cViewPr varScale="1">
        <p:scale>
          <a:sx n="111" d="100"/>
          <a:sy n="111" d="100"/>
        </p:scale>
        <p:origin x="20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6" name="Google Shape;126;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2" name="Google Shape;132;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863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4"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698810" y="1644414"/>
            <a:ext cx="8118088" cy="1448100"/>
          </a:xfrm>
          <a:prstGeom prst="rect">
            <a:avLst/>
          </a:prstGeom>
        </p:spPr>
        <p:txBody>
          <a:bodyPr spcFirstLastPara="1" wrap="square" lIns="91425" tIns="91425" rIns="91425" bIns="91425" anchor="ctr" anchorCtr="0">
            <a:normAutofit/>
          </a:bodyPr>
          <a:lstStyle/>
          <a:p>
            <a:r>
              <a:rPr lang="en-US" sz="5000" b="1" dirty="0" err="1"/>
              <a:t>MindSprint</a:t>
            </a:r>
            <a:endParaRPr lang="en-IN" sz="5000" b="1" dirty="0"/>
          </a:p>
        </p:txBody>
      </p:sp>
      <p:sp>
        <p:nvSpPr>
          <p:cNvPr id="129" name="Google Shape;129;p13"/>
          <p:cNvSpPr txBox="1">
            <a:spLocks noGrp="1"/>
          </p:cNvSpPr>
          <p:nvPr>
            <p:ph type="subTitle" idx="1"/>
          </p:nvPr>
        </p:nvSpPr>
        <p:spPr>
          <a:xfrm>
            <a:off x="5263375" y="3390854"/>
            <a:ext cx="3242732" cy="1188579"/>
          </a:xfrm>
          <a:prstGeom prst="rect">
            <a:avLst/>
          </a:prstGeom>
        </p:spPr>
        <p:txBody>
          <a:bodyPr spcFirstLastPara="1" wrap="square" lIns="91425" tIns="91425" rIns="91425" bIns="91425" anchor="t" anchorCtr="0">
            <a:noAutofit/>
          </a:bodyPr>
          <a:lstStyle/>
          <a:p>
            <a:endParaRPr lang="en-US" sz="100" dirty="0"/>
          </a:p>
          <a:p>
            <a:pPr algn="r"/>
            <a:r>
              <a:rPr lang="en-IN" sz="2000" dirty="0"/>
              <a:t>Sapoliya Dhruv</a:t>
            </a:r>
          </a:p>
          <a:p>
            <a:pPr algn="r"/>
            <a:r>
              <a:rPr lang="en-IN" sz="2000" dirty="0"/>
              <a:t>Vavaliya Dvarkesh</a:t>
            </a:r>
          </a:p>
          <a:p>
            <a:pPr algn="r"/>
            <a:r>
              <a:rPr lang="en-IN" sz="2000" dirty="0"/>
              <a:t>Prajapati </a:t>
            </a:r>
            <a:r>
              <a:rPr lang="en-US" sz="2000" dirty="0"/>
              <a:t>Krunal</a:t>
            </a:r>
            <a:r>
              <a:rPr lang="en-US" sz="100" dirty="0"/>
              <a:t> </a:t>
            </a:r>
            <a:endParaRPr lang="en-IN" sz="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1299-D3A3-4001-DAA0-7DDD08E2DD44}"/>
              </a:ext>
            </a:extLst>
          </p:cNvPr>
          <p:cNvSpPr>
            <a:spLocks noGrp="1"/>
          </p:cNvSpPr>
          <p:nvPr>
            <p:ph type="title"/>
          </p:nvPr>
        </p:nvSpPr>
        <p:spPr>
          <a:xfrm>
            <a:off x="1385850" y="1881900"/>
            <a:ext cx="6372300" cy="1379700"/>
          </a:xfrm>
        </p:spPr>
        <p:txBody>
          <a:bodyPr>
            <a:noAutofit/>
          </a:bodyPr>
          <a:lstStyle/>
          <a:p>
            <a:r>
              <a:rPr lang="en-US" sz="4000" b="1" dirty="0"/>
              <a:t>1. Introduction</a:t>
            </a:r>
            <a:endParaRPr lang="en-IN" sz="4000" dirty="0"/>
          </a:p>
        </p:txBody>
      </p:sp>
    </p:spTree>
    <p:extLst>
      <p:ext uri="{BB962C8B-B14F-4D97-AF65-F5344CB8AC3E}">
        <p14:creationId xmlns:p14="http://schemas.microsoft.com/office/powerpoint/2010/main" val="3229611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r>
              <a:rPr lang="en-US" b="1" dirty="0"/>
              <a:t>1.1 Existing System</a:t>
            </a:r>
            <a:endParaRPr lang="en-IN" dirty="0"/>
          </a:p>
        </p:txBody>
      </p:sp>
      <p:grpSp>
        <p:nvGrpSpPr>
          <p:cNvPr id="145" name="Google Shape;145;p14"/>
          <p:cNvGrpSpPr/>
          <p:nvPr/>
        </p:nvGrpSpPr>
        <p:grpSpPr>
          <a:xfrm>
            <a:off x="6212550" y="1304875"/>
            <a:ext cx="2632500" cy="3416400"/>
            <a:chOff x="6212550" y="1304875"/>
            <a:chExt cx="2632500" cy="3416400"/>
          </a:xfrm>
        </p:grpSpPr>
        <p:sp>
          <p:nvSpPr>
            <p:cNvPr id="146" name="Google Shape;146;p14"/>
            <p:cNvSpPr/>
            <p:nvPr/>
          </p:nvSpPr>
          <p:spPr>
            <a:xfrm>
              <a:off x="621540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4"/>
            <p:cNvSpPr txBox="1"/>
            <p:nvPr/>
          </p:nvSpPr>
          <p:spPr>
            <a:xfrm>
              <a:off x="6212550" y="1304875"/>
              <a:ext cx="26325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14"/>
          <p:cNvSpPr txBox="1">
            <a:spLocks noGrp="1"/>
          </p:cNvSpPr>
          <p:nvPr>
            <p:ph type="body" idx="4294967295"/>
          </p:nvPr>
        </p:nvSpPr>
        <p:spPr>
          <a:xfrm>
            <a:off x="599075" y="1800200"/>
            <a:ext cx="7945850" cy="2794800"/>
          </a:xfrm>
          <a:prstGeom prst="rect">
            <a:avLst/>
          </a:prstGeom>
        </p:spPr>
        <p:txBody>
          <a:bodyPr spcFirstLastPara="1" wrap="square" lIns="91425" tIns="91425" rIns="91425" bIns="91425" anchor="t" anchorCtr="0">
            <a:normAutofit/>
          </a:bodyPr>
          <a:lstStyle/>
          <a:p>
            <a:r>
              <a:rPr lang="en-US" sz="1400" dirty="0"/>
              <a:t>The existing system for student placement preparation and technical skill learning primarily relies on physical textbooks, static offline notes, and scattered web platforms. Students currently use separate applications or websites for practicing quantitative aptitude, watching video lectures, reading technical documentation, and tracking their study habits.</a:t>
            </a:r>
            <a:endParaRPr lang="en-IN" sz="1400" dirty="0"/>
          </a:p>
          <a:p>
            <a:r>
              <a:rPr lang="en-US" sz="1400" dirty="0"/>
              <a:t>Key drawbacks of the existing system include:</a:t>
            </a:r>
            <a:endParaRPr lang="en-IN" sz="1400" dirty="0"/>
          </a:p>
          <a:p>
            <a:pPr lvl="0"/>
            <a:r>
              <a:rPr lang="en-US" sz="1400" dirty="0"/>
              <a:t>Disjointed platforms for exam preparation, skill learning, and progress tracking.</a:t>
            </a:r>
            <a:endParaRPr lang="en-IN" sz="1400" dirty="0"/>
          </a:p>
          <a:p>
            <a:pPr lvl="0"/>
            <a:r>
              <a:rPr lang="en-US" sz="1400" dirty="0"/>
              <a:t>Lack of real-time performance evaluation and weak spot identification.</a:t>
            </a:r>
            <a:endParaRPr lang="en-IN" sz="1400" dirty="0"/>
          </a:p>
          <a:p>
            <a:pPr lvl="0"/>
            <a:r>
              <a:rPr lang="en-US" sz="1400" dirty="0"/>
              <a:t>Inability to practice company-specific interview patterns in a single mobile interface.</a:t>
            </a:r>
            <a:endParaRPr lang="en-IN" sz="1400" dirty="0"/>
          </a:p>
          <a:p>
            <a:pPr lvl="0"/>
            <a:r>
              <a:rPr lang="en-US" sz="1400" dirty="0"/>
              <a:t>Manual tracking of daily study consistency without automated retention tools like flashcards or streak counters.</a:t>
            </a: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A7CB-46AF-7D1F-60A1-2EC231BF362F}"/>
              </a:ext>
            </a:extLst>
          </p:cNvPr>
          <p:cNvSpPr>
            <a:spLocks noGrp="1"/>
          </p:cNvSpPr>
          <p:nvPr>
            <p:ph type="title"/>
          </p:nvPr>
        </p:nvSpPr>
        <p:spPr/>
        <p:txBody>
          <a:bodyPr>
            <a:normAutofit fontScale="90000"/>
          </a:bodyPr>
          <a:lstStyle/>
          <a:p>
            <a:r>
              <a:rPr lang="en-US" b="1" dirty="0"/>
              <a:t>1.2 Need for the New System</a:t>
            </a:r>
            <a:br>
              <a:rPr lang="en-IN" dirty="0"/>
            </a:br>
            <a:endParaRPr lang="en-IN" dirty="0"/>
          </a:p>
        </p:txBody>
      </p:sp>
      <p:sp>
        <p:nvSpPr>
          <p:cNvPr id="5" name="Google Shape;149;p14">
            <a:extLst>
              <a:ext uri="{FF2B5EF4-FFF2-40B4-BE49-F238E27FC236}">
                <a16:creationId xmlns:a16="http://schemas.microsoft.com/office/drawing/2014/main" id="{65DEEEB9-03DF-92AD-EE1E-986119D9ED60}"/>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With the rapid increase in competitive campus placement drives (TCS, Infosys, Wipro, Accenture, Amazon, Google), students require a unified, mobile-first learning management system.</a:t>
            </a:r>
            <a:endParaRPr lang="en-IN" sz="1400" dirty="0"/>
          </a:p>
          <a:p>
            <a:r>
              <a:rPr lang="en-US" sz="1400" dirty="0"/>
              <a:t>The new system, </a:t>
            </a:r>
            <a:r>
              <a:rPr lang="en-US" sz="1400" dirty="0" err="1"/>
              <a:t>MindSprint</a:t>
            </a:r>
            <a:r>
              <a:rPr lang="en-US" sz="1400" dirty="0"/>
              <a:t>, addresses this need by combining:</a:t>
            </a:r>
            <a:endParaRPr lang="en-IN" sz="1400" dirty="0"/>
          </a:p>
          <a:p>
            <a:pPr lvl="0"/>
            <a:r>
              <a:rPr lang="en-US" sz="1400" dirty="0"/>
              <a:t>Practice questions categorized by Quantitative Aptitude, Logical Reasoning, and IT Technical topics.</a:t>
            </a:r>
            <a:endParaRPr lang="en-IN" sz="1400" dirty="0"/>
          </a:p>
          <a:p>
            <a:pPr lvl="0"/>
            <a:r>
              <a:rPr lang="en-US" sz="1400" dirty="0"/>
              <a:t>Company-specific question filters.</a:t>
            </a:r>
            <a:endParaRPr lang="en-IN" sz="1400" dirty="0"/>
          </a:p>
          <a:p>
            <a:pPr lvl="0"/>
            <a:r>
              <a:rPr lang="en-US" sz="1400" dirty="0"/>
              <a:t>Real-time exam simulation with live timers and scratchpad tools.</a:t>
            </a:r>
            <a:endParaRPr lang="en-IN" sz="1400" dirty="0"/>
          </a:p>
          <a:p>
            <a:pPr lvl="0"/>
            <a:r>
              <a:rPr lang="en-US" sz="1400" dirty="0"/>
              <a:t>Intelligent analytics to identify weak topics based on past test attempts.</a:t>
            </a:r>
            <a:endParaRPr lang="en-IN" sz="1400" dirty="0"/>
          </a:p>
          <a:p>
            <a:pPr lvl="0"/>
            <a:r>
              <a:rPr lang="en-US" sz="1400" dirty="0"/>
              <a:t>Integrated video learning modules and interactive flashcards.</a:t>
            </a:r>
            <a:endParaRPr lang="en-IN" sz="1400" dirty="0"/>
          </a:p>
        </p:txBody>
      </p:sp>
    </p:spTree>
    <p:extLst>
      <p:ext uri="{BB962C8B-B14F-4D97-AF65-F5344CB8AC3E}">
        <p14:creationId xmlns:p14="http://schemas.microsoft.com/office/powerpoint/2010/main" val="2419562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83BD4-53FB-2843-8CB0-28F496195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4E523-8B21-43D9-B167-CAE6C88587A0}"/>
              </a:ext>
            </a:extLst>
          </p:cNvPr>
          <p:cNvSpPr>
            <a:spLocks noGrp="1"/>
          </p:cNvSpPr>
          <p:nvPr>
            <p:ph type="title"/>
          </p:nvPr>
        </p:nvSpPr>
        <p:spPr/>
        <p:txBody>
          <a:bodyPr>
            <a:normAutofit/>
          </a:bodyPr>
          <a:lstStyle/>
          <a:p>
            <a:r>
              <a:rPr lang="en-US" b="1" dirty="0"/>
              <a:t>1.3 Objective of the New System</a:t>
            </a:r>
            <a:endParaRPr lang="en-IN" dirty="0"/>
          </a:p>
        </p:txBody>
      </p:sp>
      <p:sp>
        <p:nvSpPr>
          <p:cNvPr id="5" name="Google Shape;149;p14">
            <a:extLst>
              <a:ext uri="{FF2B5EF4-FFF2-40B4-BE49-F238E27FC236}">
                <a16:creationId xmlns:a16="http://schemas.microsoft.com/office/drawing/2014/main" id="{2AAF3BE0-8F86-5186-CFA8-86EA8E9F8FE4}"/>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t>The primary objectives of MindSprint are:-</a:t>
            </a:r>
          </a:p>
          <a:p>
            <a:endParaRPr/>
          </a:p>
          <a:p>
            <a:r>
              <a:t>To provide a consolidated mobile platform for aptitude practice, technical courses, and academic revision.</a:t>
            </a:r>
          </a:p>
          <a:p>
            <a:r>
              <a:t>To enable company-wise filter options for focused campus drive preparation.</a:t>
            </a:r>
          </a:p>
          <a:p>
            <a:r>
              <a:t> To deliver real-time exam evaluation with automated score calculation and topic-level weak spot detection.</a:t>
            </a:r>
          </a:p>
          <a:p>
            <a:r>
              <a:t>To improve daily student engagement through streak tracking and swipeable flashcards.</a:t>
            </a:r>
          </a:p>
          <a:p>
            <a:r>
              <a:t>To offer a robust full-stack architecture with backend database persistence and offline dataset fallback.</a:t>
            </a:r>
          </a:p>
        </p:txBody>
      </p:sp>
    </p:spTree>
    <p:extLst>
      <p:ext uri="{BB962C8B-B14F-4D97-AF65-F5344CB8AC3E}">
        <p14:creationId xmlns:p14="http://schemas.microsoft.com/office/powerpoint/2010/main" val="93129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9ECD5-FA68-B3B0-1AE7-2E4E0B34C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A9A07-E0F8-04D7-DB57-6F56DE7FC6A8}"/>
              </a:ext>
            </a:extLst>
          </p:cNvPr>
          <p:cNvSpPr>
            <a:spLocks noGrp="1"/>
          </p:cNvSpPr>
          <p:nvPr>
            <p:ph type="title"/>
          </p:nvPr>
        </p:nvSpPr>
        <p:spPr/>
        <p:txBody>
          <a:bodyPr>
            <a:normAutofit/>
          </a:bodyPr>
          <a:lstStyle/>
          <a:p>
            <a:r>
              <a:rPr lang="en-US" b="1" dirty="0"/>
              <a:t>1.4 Problem Definition</a:t>
            </a:r>
            <a:endParaRPr lang="en-IN" dirty="0"/>
          </a:p>
        </p:txBody>
      </p:sp>
      <p:sp>
        <p:nvSpPr>
          <p:cNvPr id="5" name="Google Shape;149;p14">
            <a:extLst>
              <a:ext uri="{FF2B5EF4-FFF2-40B4-BE49-F238E27FC236}">
                <a16:creationId xmlns:a16="http://schemas.microsoft.com/office/drawing/2014/main" id="{30327FDD-DFE5-599D-5B35-10C2390E402A}"/>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Students preparing for IT job placements face difficulty in identifying their specific technical and quantitative weak areas due to a lack of detailed test analysis. Furthermore, switching between multiple apps for learning, practicing, and reviewing formulas leads to reduced focus and study fragmentation.</a:t>
            </a:r>
          </a:p>
          <a:p>
            <a:endParaRPr lang="en-IN" sz="1400" dirty="0"/>
          </a:p>
          <a:p>
            <a:r>
              <a:rPr lang="en-US" sz="1400" dirty="0" err="1"/>
              <a:t>MindSprint</a:t>
            </a:r>
            <a:r>
              <a:rPr lang="en-US" sz="1400" dirty="0"/>
              <a:t> solves this problem by integrating test execution, video learning, weak topic analysis, and formula flashcards into a single application supported by a Node.js/MongoDB REST API backend.</a:t>
            </a:r>
            <a:endParaRPr lang="en-IN" sz="1400" dirty="0"/>
          </a:p>
        </p:txBody>
      </p:sp>
    </p:spTree>
    <p:extLst>
      <p:ext uri="{BB962C8B-B14F-4D97-AF65-F5344CB8AC3E}">
        <p14:creationId xmlns:p14="http://schemas.microsoft.com/office/powerpoint/2010/main" val="213705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7CF5A-F0A2-E4E7-DD34-E8DB3DA45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4EAB6-7E58-9A2B-BBC9-03891A2A54F6}"/>
              </a:ext>
            </a:extLst>
          </p:cNvPr>
          <p:cNvSpPr>
            <a:spLocks noGrp="1"/>
          </p:cNvSpPr>
          <p:nvPr>
            <p:ph type="title"/>
          </p:nvPr>
        </p:nvSpPr>
        <p:spPr/>
        <p:txBody>
          <a:bodyPr>
            <a:normAutofit/>
          </a:bodyPr>
          <a:lstStyle/>
          <a:p>
            <a:r>
              <a:rPr lang="en-US" b="1" dirty="0"/>
              <a:t>1.5 Core Components</a:t>
            </a:r>
            <a:endParaRPr lang="en-IN" dirty="0"/>
          </a:p>
        </p:txBody>
      </p:sp>
      <p:sp>
        <p:nvSpPr>
          <p:cNvPr id="5" name="Google Shape;149;p14">
            <a:extLst>
              <a:ext uri="{FF2B5EF4-FFF2-40B4-BE49-F238E27FC236}">
                <a16:creationId xmlns:a16="http://schemas.microsoft.com/office/drawing/2014/main" id="{A80D62E3-0B1D-E0BA-001F-F22923016452}"/>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defRPr sz="1300" b="1"/>
            </a:pPr>
            <a:r>
              <a:t>MindSprint is architected into five core software layers and modules:</a:t>
            </a:r>
          </a:p>
          <a:p>
            <a:pPr>
              <a:spcBef>
                <a:spcPts val="800"/>
              </a:spcBef>
            </a:pPr>
            <a:r>
              <a:rPr sz="1150" b="1"/>
              <a:t>1. Mobile Client App:</a:t>
            </a:r>
            <a:r>
              <a:rPr sz="1100"/>
              <a:t> React Native frontend built with Expo v54/v57, TypeScript, and Expo Router, delivering cross-platform performance across Android, iOS, and Web.</a:t>
            </a:r>
          </a:p>
          <a:p>
            <a:pPr>
              <a:spcBef>
                <a:spcPts val="800"/>
              </a:spcBef>
            </a:pPr>
            <a:r>
              <a:rPr sz="1150" b="1"/>
              <a:t>2. REST API Backend:</a:t>
            </a:r>
            <a:r>
              <a:rPr sz="1100"/>
              <a:t> Node.js and Express server delivering secure JWT authentication, rate limiting, academic data APIs, and AI proxy routing.</a:t>
            </a:r>
          </a:p>
          <a:p>
            <a:pPr>
              <a:spcBef>
                <a:spcPts val="800"/>
              </a:spcBef>
            </a:pPr>
            <a:r>
              <a:rPr sz="1150" b="1"/>
              <a:t>3. Scalable Database Layer:</a:t>
            </a:r>
            <a:r>
              <a:rPr sz="1100"/>
              <a:t> MongoDB database with Mongoose schemas for User accounts, Question banks, Courses, ExamResults, DuelRooms, and SamplePapers.</a:t>
            </a:r>
          </a:p>
          <a:p>
            <a:pPr>
              <a:spcBef>
                <a:spcPts val="800"/>
              </a:spcBef>
            </a:pPr>
            <a:r>
              <a:rPr sz="1150" b="1"/>
              <a:t>4. Offline Resilience Layer:</a:t>
            </a:r>
            <a:r>
              <a:rPr sz="1100"/>
              <a:t> Service-level fallback mechanism (ApiService) that automatically loads verified local datasets when network connectivity drops.</a:t>
            </a:r>
          </a:p>
          <a:p>
            <a:pPr>
              <a:spcBef>
                <a:spcPts val="800"/>
              </a:spcBef>
            </a:pPr>
            <a:r>
              <a:rPr sz="1150" b="1"/>
              <a:t>5. Interactive Learning Engines:</a:t>
            </a:r>
            <a:r>
              <a:rPr sz="1100"/>
              <a:t> Real-time timed mock exam engine with question palette, 1v1 Quiz Duel battles, Voice Viva player, and AI Doubt Solver with photo OCR.</a:t>
            </a:r>
          </a:p>
        </p:txBody>
      </p:sp>
    </p:spTree>
    <p:extLst>
      <p:ext uri="{BB962C8B-B14F-4D97-AF65-F5344CB8AC3E}">
        <p14:creationId xmlns:p14="http://schemas.microsoft.com/office/powerpoint/2010/main" val="329615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0CEAF-F4AE-858E-C8FB-9FB406F3D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21640-FCAC-3AC7-A535-FDB8C5C06E7C}"/>
              </a:ext>
            </a:extLst>
          </p:cNvPr>
          <p:cNvSpPr>
            <a:spLocks noGrp="1"/>
          </p:cNvSpPr>
          <p:nvPr>
            <p:ph type="title"/>
          </p:nvPr>
        </p:nvSpPr>
        <p:spPr/>
        <p:txBody>
          <a:bodyPr>
            <a:normAutofit/>
          </a:bodyPr>
          <a:lstStyle/>
          <a:p>
            <a:r>
              <a:rPr lang="en-US" b="1" dirty="0"/>
              <a:t>1.6 Project Profile</a:t>
            </a:r>
            <a:endParaRPr lang="en-IN" dirty="0"/>
          </a:p>
        </p:txBody>
      </p:sp>
      <p:sp>
        <p:nvSpPr>
          <p:cNvPr id="5" name="Google Shape;149;p14">
            <a:extLst>
              <a:ext uri="{FF2B5EF4-FFF2-40B4-BE49-F238E27FC236}">
                <a16:creationId xmlns:a16="http://schemas.microsoft.com/office/drawing/2014/main" id="{9E58247F-7AE8-F38C-AA96-FCAD41683B47}"/>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lvl="0"/>
            <a:r>
              <a:rPr lang="en-US" sz="1400" b="1" dirty="0"/>
              <a:t>Project Title </a:t>
            </a:r>
            <a:r>
              <a:rPr lang="en-US" sz="1400" dirty="0"/>
              <a:t>:- </a:t>
            </a:r>
            <a:r>
              <a:rPr lang="en-US" sz="1400" dirty="0" err="1"/>
              <a:t>MindSprint</a:t>
            </a:r>
            <a:r>
              <a:rPr lang="en-US" sz="1400" dirty="0"/>
              <a:t> - Placement Preparation &amp; Skill Learning App</a:t>
            </a:r>
            <a:endParaRPr lang="en-IN" sz="1400" dirty="0"/>
          </a:p>
          <a:p>
            <a:pPr lvl="0"/>
            <a:r>
              <a:rPr lang="en-US" sz="1400" b="1" dirty="0"/>
              <a:t>Front-End Technology </a:t>
            </a:r>
            <a:r>
              <a:rPr lang="en-US" sz="1400" dirty="0"/>
              <a:t>:- React Native, Expo v54, TypeScript, Expo Router</a:t>
            </a:r>
            <a:endParaRPr lang="en-IN" sz="1400" dirty="0"/>
          </a:p>
          <a:p>
            <a:pPr lvl="0"/>
            <a:r>
              <a:rPr lang="en-US" sz="1400" b="1" dirty="0"/>
              <a:t>Back-End Technology </a:t>
            </a:r>
            <a:r>
              <a:rPr lang="en-US" sz="1400" dirty="0"/>
              <a:t>:- Node.js, Express.js REST API</a:t>
            </a:r>
            <a:endParaRPr lang="en-IN" sz="1400" dirty="0"/>
          </a:p>
          <a:p>
            <a:pPr lvl="0"/>
            <a:r>
              <a:rPr lang="en-US" sz="1400" b="1" dirty="0"/>
              <a:t>Database </a:t>
            </a:r>
            <a:r>
              <a:rPr lang="en-US" sz="1400" dirty="0"/>
              <a:t>:- MongoDB / Mongoose ODM</a:t>
            </a:r>
            <a:endParaRPr lang="en-IN" sz="1400" dirty="0"/>
          </a:p>
          <a:p>
            <a:pPr lvl="0"/>
            <a:r>
              <a:rPr lang="en-US" sz="1400" b="1" dirty="0"/>
              <a:t>Target OS </a:t>
            </a:r>
            <a:r>
              <a:rPr lang="en-US" sz="1400" dirty="0"/>
              <a:t>:- Android, iOS, Web</a:t>
            </a:r>
            <a:endParaRPr lang="en-IN" sz="1400" dirty="0"/>
          </a:p>
          <a:p>
            <a:pPr lvl="0"/>
            <a:r>
              <a:rPr lang="en-US" sz="1400" b="1" dirty="0"/>
              <a:t>IDE / Environment </a:t>
            </a:r>
            <a:r>
              <a:rPr lang="en-US" sz="1400" dirty="0"/>
              <a:t>:- VS Code, Node.js v20+, Expo CLI</a:t>
            </a:r>
            <a:endParaRPr lang="en-IN" dirty="0"/>
          </a:p>
        </p:txBody>
      </p:sp>
    </p:spTree>
    <p:extLst>
      <p:ext uri="{BB962C8B-B14F-4D97-AF65-F5344CB8AC3E}">
        <p14:creationId xmlns:p14="http://schemas.microsoft.com/office/powerpoint/2010/main" val="3350138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01C8-9290-3B52-588C-675162845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0B969-9533-B343-03FD-8247536FC7BA}"/>
              </a:ext>
            </a:extLst>
          </p:cNvPr>
          <p:cNvSpPr>
            <a:spLocks noGrp="1"/>
          </p:cNvSpPr>
          <p:nvPr>
            <p:ph type="title"/>
          </p:nvPr>
        </p:nvSpPr>
        <p:spPr/>
        <p:txBody>
          <a:bodyPr>
            <a:normAutofit/>
          </a:bodyPr>
          <a:lstStyle/>
          <a:p>
            <a:r>
              <a:rPr lang="en-US" b="1" dirty="0"/>
              <a:t>1.7 Assumptions and Constraints</a:t>
            </a:r>
            <a:endParaRPr lang="en-IN" dirty="0"/>
          </a:p>
        </p:txBody>
      </p:sp>
      <p:sp>
        <p:nvSpPr>
          <p:cNvPr id="5" name="Google Shape;149;p14">
            <a:extLst>
              <a:ext uri="{FF2B5EF4-FFF2-40B4-BE49-F238E27FC236}">
                <a16:creationId xmlns:a16="http://schemas.microsoft.com/office/drawing/2014/main" id="{538905D3-1EB1-B9FC-BAB7-50E22635B547}"/>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buFont typeface="Wingdings" panose="05000000000000000000" pitchFamily="2" charset="2"/>
              <a:buChar char="q"/>
            </a:pPr>
            <a:r>
              <a:rPr lang="en-US" sz="1600" b="1" dirty="0"/>
              <a:t>Assumptions:</a:t>
            </a:r>
          </a:p>
          <a:p>
            <a:pPr marL="146050" indent="0">
              <a:buNone/>
            </a:pPr>
            <a:endParaRPr lang="en-IN" sz="1400" dirty="0"/>
          </a:p>
          <a:p>
            <a:pPr lvl="0"/>
            <a:r>
              <a:rPr lang="en-US" sz="1400" dirty="0"/>
              <a:t>Users possess an active Android/iOS mobile device or modern web browser.</a:t>
            </a:r>
            <a:endParaRPr lang="en-IN" sz="1400" dirty="0"/>
          </a:p>
          <a:p>
            <a:pPr lvl="0"/>
            <a:r>
              <a:rPr lang="en-US" sz="1400" dirty="0"/>
              <a:t>Network connectivity is available for user registration, live backend sync, and course video streaming.</a:t>
            </a:r>
          </a:p>
          <a:p>
            <a:pPr marL="146050" lvl="0" indent="0">
              <a:buNone/>
            </a:pPr>
            <a:endParaRPr lang="en-IN" sz="1400" dirty="0"/>
          </a:p>
          <a:p>
            <a:pPr>
              <a:buFont typeface="Wingdings" panose="05000000000000000000" pitchFamily="2" charset="2"/>
              <a:buChar char="q"/>
            </a:pPr>
            <a:r>
              <a:rPr lang="en-US" sz="1600" b="1" dirty="0"/>
              <a:t>Constraints:</a:t>
            </a:r>
          </a:p>
          <a:p>
            <a:pPr marL="146050" indent="0">
              <a:buNone/>
            </a:pPr>
            <a:endParaRPr lang="en-IN" sz="1400" dirty="0"/>
          </a:p>
          <a:p>
            <a:pPr lvl="0"/>
            <a:r>
              <a:rPr lang="en-US" sz="1400" dirty="0"/>
              <a:t>Offline mode relies on static local datasets for practice questions.</a:t>
            </a:r>
            <a:endParaRPr lang="en-IN" sz="1400" dirty="0"/>
          </a:p>
          <a:p>
            <a:pPr lvl="0"/>
            <a:r>
              <a:rPr lang="en-US" sz="1400" dirty="0"/>
              <a:t>Video playback requires active internet bandwidth.</a:t>
            </a:r>
            <a:endParaRPr lang="en-IN" sz="1400" dirty="0"/>
          </a:p>
          <a:p>
            <a:pPr lvl="0"/>
            <a:r>
              <a:rPr lang="en-US" sz="1400" dirty="0"/>
              <a:t>Backend API authentication uses JWT/hashed passwords for secure user access.</a:t>
            </a:r>
            <a:endParaRPr lang="en-IN" sz="1400" dirty="0"/>
          </a:p>
        </p:txBody>
      </p:sp>
    </p:spTree>
    <p:extLst>
      <p:ext uri="{BB962C8B-B14F-4D97-AF65-F5344CB8AC3E}">
        <p14:creationId xmlns:p14="http://schemas.microsoft.com/office/powerpoint/2010/main" val="243309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EDC7-70C1-FB3A-D1AC-162A28990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74A7-0885-6E74-232A-C734AA5C8B4A}"/>
              </a:ext>
            </a:extLst>
          </p:cNvPr>
          <p:cNvSpPr>
            <a:spLocks noGrp="1"/>
          </p:cNvSpPr>
          <p:nvPr>
            <p:ph type="title"/>
          </p:nvPr>
        </p:nvSpPr>
        <p:spPr>
          <a:xfrm>
            <a:off x="542551" y="793561"/>
            <a:ext cx="7945850" cy="954600"/>
          </a:xfrm>
        </p:spPr>
        <p:txBody>
          <a:bodyPr>
            <a:normAutofit fontScale="90000"/>
          </a:bodyPr>
          <a:lstStyle/>
          <a:p>
            <a:r>
              <a:rPr lang="en-US" b="1" dirty="0"/>
              <a:t>1.8 Advantages and Limitations of the Proposed System</a:t>
            </a:r>
            <a:endParaRPr lang="en-IN" dirty="0"/>
          </a:p>
        </p:txBody>
      </p:sp>
      <p:sp>
        <p:nvSpPr>
          <p:cNvPr id="5" name="Google Shape;149;p14">
            <a:extLst>
              <a:ext uri="{FF2B5EF4-FFF2-40B4-BE49-F238E27FC236}">
                <a16:creationId xmlns:a16="http://schemas.microsoft.com/office/drawing/2014/main" id="{42A4605B-CCEA-17FA-813C-AFC8DA688780}"/>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buFont typeface="Wingdings" panose="05000000000000000000" pitchFamily="2" charset="2"/>
              <a:buChar char="q"/>
            </a:pPr>
            <a:r>
              <a:rPr lang="en-US" sz="1400" b="1" dirty="0"/>
              <a:t>Advantages :-</a:t>
            </a:r>
          </a:p>
          <a:p>
            <a:pPr marL="146050" indent="0">
              <a:buNone/>
            </a:pPr>
            <a:endParaRPr lang="en-IN" sz="1400" dirty="0"/>
          </a:p>
          <a:p>
            <a:pPr lvl="0"/>
            <a:r>
              <a:rPr lang="en-US" dirty="0"/>
              <a:t>Single unified platform for aptitude practice, course videos, and flashcards.</a:t>
            </a:r>
            <a:endParaRPr lang="en-IN" dirty="0"/>
          </a:p>
          <a:p>
            <a:pPr lvl="0"/>
            <a:r>
              <a:rPr lang="en-US" dirty="0"/>
              <a:t>Real-time weak spot detection helping students target problem areas.</a:t>
            </a:r>
            <a:endParaRPr lang="en-IN" dirty="0"/>
          </a:p>
          <a:p>
            <a:pPr lvl="0"/>
            <a:r>
              <a:rPr lang="en-US" dirty="0"/>
              <a:t>Automated score calculation and test analytics.</a:t>
            </a:r>
            <a:endParaRPr lang="en-IN" dirty="0"/>
          </a:p>
          <a:p>
            <a:pPr lvl="0"/>
            <a:r>
              <a:rPr lang="en-US" dirty="0"/>
              <a:t>Cross-platform compatibility (Android, iOS, Web).</a:t>
            </a:r>
            <a:endParaRPr lang="en-IN" dirty="0"/>
          </a:p>
          <a:p>
            <a:pPr lvl="0"/>
            <a:r>
              <a:rPr lang="en-US" dirty="0"/>
              <a:t>Graceful offline fallback mechanism.</a:t>
            </a:r>
          </a:p>
          <a:p>
            <a:pPr marL="146050" lvl="0" indent="0">
              <a:buNone/>
            </a:pPr>
            <a:endParaRPr lang="en-IN" dirty="0"/>
          </a:p>
          <a:p>
            <a:pPr>
              <a:buFont typeface="Wingdings" panose="05000000000000000000" pitchFamily="2" charset="2"/>
              <a:buChar char="q"/>
            </a:pPr>
            <a:r>
              <a:rPr lang="en-US" sz="1400" b="1" dirty="0"/>
              <a:t>Limitations :-</a:t>
            </a:r>
          </a:p>
          <a:p>
            <a:pPr>
              <a:buFont typeface="Wingdings" panose="05000000000000000000" pitchFamily="2" charset="2"/>
              <a:buChar char="q"/>
            </a:pPr>
            <a:endParaRPr lang="en-IN" sz="1400" dirty="0"/>
          </a:p>
          <a:p>
            <a:pPr lvl="0"/>
            <a:r>
              <a:rPr lang="en-US" dirty="0"/>
              <a:t>Initial database setup requires internet connectivity for syncing recent exam results.</a:t>
            </a:r>
            <a:endParaRPr lang="en-IN" dirty="0"/>
          </a:p>
          <a:p>
            <a:pPr lvl="0"/>
            <a:r>
              <a:rPr lang="en-US" dirty="0"/>
              <a:t>Advanced AI recommendations depend on the volume of test data recorded over time.</a:t>
            </a:r>
            <a:endParaRPr lang="en-IN" dirty="0"/>
          </a:p>
        </p:txBody>
      </p:sp>
    </p:spTree>
    <p:extLst>
      <p:ext uri="{BB962C8B-B14F-4D97-AF65-F5344CB8AC3E}">
        <p14:creationId xmlns:p14="http://schemas.microsoft.com/office/powerpoint/2010/main" val="283832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3A51B-18E3-3E7D-7090-658C78E2B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31406-C464-2107-056E-574AEE9971C1}"/>
              </a:ext>
            </a:extLst>
          </p:cNvPr>
          <p:cNvSpPr>
            <a:spLocks noGrp="1"/>
          </p:cNvSpPr>
          <p:nvPr>
            <p:ph type="title"/>
          </p:nvPr>
        </p:nvSpPr>
        <p:spPr>
          <a:xfrm>
            <a:off x="438614" y="1427422"/>
            <a:ext cx="8266771" cy="2288656"/>
          </a:xfrm>
        </p:spPr>
        <p:txBody>
          <a:bodyPr>
            <a:noAutofit/>
          </a:bodyPr>
          <a:lstStyle/>
          <a:p>
            <a:r>
              <a:rPr lang="en-US" sz="4000" b="1" dirty="0"/>
              <a:t>2. Requirement Determination &amp; Analysis</a:t>
            </a:r>
            <a:endParaRPr lang="en-IN" sz="4000" dirty="0"/>
          </a:p>
        </p:txBody>
      </p:sp>
    </p:spTree>
    <p:extLst>
      <p:ext uri="{BB962C8B-B14F-4D97-AF65-F5344CB8AC3E}">
        <p14:creationId xmlns:p14="http://schemas.microsoft.com/office/powerpoint/2010/main" val="54376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8E157-CCDE-0642-6A2B-0A640B387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DCB4A-EA26-C47C-94C7-F211D2A7707E}"/>
              </a:ext>
            </a:extLst>
          </p:cNvPr>
          <p:cNvSpPr>
            <a:spLocks noGrp="1"/>
          </p:cNvSpPr>
          <p:nvPr>
            <p:ph type="title"/>
          </p:nvPr>
        </p:nvSpPr>
        <p:spPr>
          <a:xfrm>
            <a:off x="599075" y="837030"/>
            <a:ext cx="7945850" cy="954600"/>
          </a:xfrm>
        </p:spPr>
        <p:txBody>
          <a:bodyPr>
            <a:normAutofit/>
          </a:bodyPr>
          <a:lstStyle/>
          <a:p>
            <a:r>
              <a:rPr dirty="0"/>
              <a:t>2.1 Requirement Determination</a:t>
            </a:r>
          </a:p>
        </p:txBody>
      </p:sp>
      <p:sp>
        <p:nvSpPr>
          <p:cNvPr id="5" name="Google Shape;149;p14">
            <a:extLst>
              <a:ext uri="{FF2B5EF4-FFF2-40B4-BE49-F238E27FC236}">
                <a16:creationId xmlns:a16="http://schemas.microsoft.com/office/drawing/2014/main" id="{481105A0-4AFE-3B94-F4A8-FDA51363D8F1}"/>
              </a:ext>
            </a:extLst>
          </p:cNvPr>
          <p:cNvSpPr txBox="1">
            <a:spLocks/>
          </p:cNvSpPr>
          <p:nvPr/>
        </p:nvSpPr>
        <p:spPr>
          <a:xfrm>
            <a:off x="599075" y="1709853"/>
            <a:ext cx="7945850" cy="2460703"/>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defRPr sz="1300" b="1"/>
            </a:pPr>
            <a:r>
              <a:rPr dirty="0"/>
              <a:t>Functional Requirements :</a:t>
            </a:r>
          </a:p>
          <a:p>
            <a:pPr>
              <a:spcBef>
                <a:spcPts val="600"/>
              </a:spcBef>
            </a:pPr>
            <a:r>
              <a:rPr sz="1100" b="1" dirty="0"/>
              <a:t>1. User Authentication:</a:t>
            </a:r>
            <a:r>
              <a:rPr sz="1050" dirty="0"/>
              <a:t> Secure registration, login, and guest mode protected by </a:t>
            </a:r>
            <a:r>
              <a:rPr sz="1050" dirty="0" err="1"/>
              <a:t>bcrypt</a:t>
            </a:r>
            <a:r>
              <a:rPr sz="1050" dirty="0"/>
              <a:t> password hashing and JWT tokens.</a:t>
            </a:r>
          </a:p>
          <a:p>
            <a:pPr>
              <a:spcBef>
                <a:spcPts val="600"/>
              </a:spcBef>
            </a:pPr>
            <a:r>
              <a:rPr sz="1100" b="1" dirty="0"/>
              <a:t>2. Multi-Board Track Selection:</a:t>
            </a:r>
            <a:r>
              <a:rPr sz="1050" dirty="0"/>
              <a:t> Dynamic curriculum switching between GTU Engineering and Gujarat School (GSEB) syllabi.</a:t>
            </a:r>
          </a:p>
          <a:p>
            <a:pPr>
              <a:spcBef>
                <a:spcPts val="600"/>
              </a:spcBef>
            </a:pPr>
            <a:r>
              <a:rPr sz="1100" b="1" dirty="0"/>
              <a:t>3. Company-Wise Question Bank:</a:t>
            </a:r>
            <a:r>
              <a:rPr sz="1050" dirty="0"/>
              <a:t> Practice questions filtered by company recruitment pattern (TCS, Infosys, Amazon, etc.).</a:t>
            </a:r>
          </a:p>
          <a:p>
            <a:pPr>
              <a:spcBef>
                <a:spcPts val="600"/>
              </a:spcBef>
            </a:pPr>
            <a:r>
              <a:rPr sz="1100" b="1" dirty="0"/>
              <a:t>4. Timed Mock Exam Engine:</a:t>
            </a:r>
            <a:r>
              <a:rPr sz="1050" dirty="0"/>
              <a:t> Real-time countdown timer, color-coded question palette navigation, and in-exam scratchpad.</a:t>
            </a:r>
          </a:p>
          <a:p>
            <a:pPr>
              <a:spcBef>
                <a:spcPts val="600"/>
              </a:spcBef>
            </a:pPr>
            <a:r>
              <a:rPr sz="1100" b="1" dirty="0"/>
              <a:t>5. Automated Weak Spot Detection:</a:t>
            </a:r>
            <a:r>
              <a:rPr sz="1050" dirty="0"/>
              <a:t> Automated score calculation flagging topics with &lt;60% accuracy for targeted revision.</a:t>
            </a:r>
          </a:p>
          <a:p>
            <a:pPr>
              <a:spcBef>
                <a:spcPts val="600"/>
              </a:spcBef>
            </a:pPr>
            <a:r>
              <a:rPr sz="1100" b="1" dirty="0"/>
              <a:t>6. AI Doubt Solver &amp; OCR:</a:t>
            </a:r>
            <a:r>
              <a:rPr sz="1050" dirty="0"/>
              <a:t> Instant question clearing via camera photo OCR and Gemini-powered step-by-step verified explanations.</a:t>
            </a:r>
          </a:p>
          <a:p>
            <a:pPr>
              <a:spcBef>
                <a:spcPts val="600"/>
              </a:spcBef>
            </a:pPr>
            <a:r>
              <a:rPr sz="1100" b="1" dirty="0"/>
              <a:t>7. Course Catalog &amp; Video Masterclasses:</a:t>
            </a:r>
            <a:r>
              <a:rPr sz="1050" dirty="0"/>
              <a:t> Organized chapter navigator, official e-textbooks, and curated YouTube video lectures.</a:t>
            </a:r>
          </a:p>
          <a:p>
            <a:pPr>
              <a:spcBef>
                <a:spcPts val="600"/>
              </a:spcBef>
            </a:pPr>
            <a:r>
              <a:rPr sz="1100" b="1" dirty="0"/>
              <a:t>8. Engagement &amp; 1v1 PvP Battles:</a:t>
            </a:r>
            <a:r>
              <a:rPr sz="1050" dirty="0"/>
              <a:t> </a:t>
            </a:r>
            <a:r>
              <a:rPr sz="1050" dirty="0" err="1"/>
              <a:t>Swipeable</a:t>
            </a:r>
            <a:r>
              <a:rPr sz="1050" dirty="0"/>
              <a:t> flashcards, daily study streaks, campus leaderboard, and live Quiz Duel matchmaking.</a:t>
            </a:r>
          </a:p>
        </p:txBody>
      </p:sp>
    </p:spTree>
    <p:extLst>
      <p:ext uri="{BB962C8B-B14F-4D97-AF65-F5344CB8AC3E}">
        <p14:creationId xmlns:p14="http://schemas.microsoft.com/office/powerpoint/2010/main" val="558716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9DD1F-4547-CFA3-369D-529514B6D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89C7A-2A9D-C366-BDA5-3F677E4EDDF8}"/>
              </a:ext>
            </a:extLst>
          </p:cNvPr>
          <p:cNvSpPr>
            <a:spLocks noGrp="1"/>
          </p:cNvSpPr>
          <p:nvPr>
            <p:ph type="title"/>
          </p:nvPr>
        </p:nvSpPr>
        <p:spPr>
          <a:xfrm>
            <a:off x="542551" y="793561"/>
            <a:ext cx="7945850" cy="954600"/>
          </a:xfrm>
        </p:spPr>
        <p:txBody>
          <a:bodyPr>
            <a:normAutofit/>
          </a:bodyPr>
          <a:lstStyle/>
          <a:p>
            <a:r>
              <a:t>2.1 Requirement Determination</a:t>
            </a:r>
          </a:p>
        </p:txBody>
      </p:sp>
      <p:sp>
        <p:nvSpPr>
          <p:cNvPr id="5" name="Google Shape;149;p14">
            <a:extLst>
              <a:ext uri="{FF2B5EF4-FFF2-40B4-BE49-F238E27FC236}">
                <a16:creationId xmlns:a16="http://schemas.microsoft.com/office/drawing/2014/main" id="{F3605A71-ACC2-48F2-1827-CA7DCB31E2CB}"/>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marL="146050" lvl="0" indent="0">
              <a:buNone/>
            </a:pPr>
            <a:r>
              <a:rPr sz="1500" b="1" dirty="0"/>
              <a:t>Non-Functional Requirements :-</a:t>
            </a:r>
          </a:p>
          <a:p>
            <a:pPr>
              <a:defRPr sz="600"/>
            </a:pPr>
            <a:endParaRPr sz="1500" b="1" dirty="0"/>
          </a:p>
          <a:p>
            <a:r>
              <a:rPr sz="1350" b="1" dirty="0"/>
              <a:t>1. Performance: </a:t>
            </a:r>
            <a:r>
              <a:rPr sz="1350" b="0" dirty="0"/>
              <a:t>Screen load times under 2 seconds; instant local exam evaluation with zero latency score calculation.</a:t>
            </a:r>
          </a:p>
          <a:p>
            <a:pPr>
              <a:defRPr sz="600"/>
            </a:pPr>
            <a:endParaRPr sz="1350" b="0" dirty="0"/>
          </a:p>
          <a:p>
            <a:r>
              <a:rPr sz="1350" b="1" dirty="0"/>
              <a:t>2. Reliability: </a:t>
            </a:r>
            <a:r>
              <a:rPr sz="1350" b="0" dirty="0"/>
              <a:t>Seamless offline fallback using local verified static datasets when backend REST API is unreachable.</a:t>
            </a:r>
          </a:p>
          <a:p>
            <a:pPr>
              <a:defRPr sz="600"/>
            </a:pPr>
            <a:endParaRPr sz="1350" b="0" dirty="0"/>
          </a:p>
          <a:p>
            <a:r>
              <a:rPr sz="1350" b="1" dirty="0"/>
              <a:t>3. Usability: </a:t>
            </a:r>
            <a:r>
              <a:rPr sz="1350" b="0" dirty="0"/>
              <a:t>Clean, accessible Material Design 3 interface with dynamic dark/light mode and intuitive student workflows.</a:t>
            </a:r>
          </a:p>
          <a:p>
            <a:pPr>
              <a:defRPr sz="600"/>
            </a:pPr>
            <a:endParaRPr sz="1350" b="0" dirty="0"/>
          </a:p>
          <a:p>
            <a:r>
              <a:rPr sz="1350" b="1" dirty="0"/>
              <a:t>4. Security: </a:t>
            </a:r>
            <a:r>
              <a:rPr sz="1350" b="0" dirty="0"/>
              <a:t>Encrypted user passwords (</a:t>
            </a:r>
            <a:r>
              <a:rPr sz="1350" b="0" dirty="0" err="1"/>
              <a:t>bcryptjs</a:t>
            </a:r>
            <a:r>
              <a:rPr sz="1350" b="0" dirty="0"/>
              <a:t>, salt rounds: 10) and protected REST API endpoints with JWT bearer authentication.</a:t>
            </a:r>
          </a:p>
        </p:txBody>
      </p:sp>
    </p:spTree>
    <p:extLst>
      <p:ext uri="{BB962C8B-B14F-4D97-AF65-F5344CB8AC3E}">
        <p14:creationId xmlns:p14="http://schemas.microsoft.com/office/powerpoint/2010/main" val="44143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0872-9357-BB65-CAF8-951EF7F5C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361CB-ED1C-92DE-6E0E-0D03238FD124}"/>
              </a:ext>
            </a:extLst>
          </p:cNvPr>
          <p:cNvSpPr>
            <a:spLocks noGrp="1"/>
          </p:cNvSpPr>
          <p:nvPr>
            <p:ph type="title"/>
          </p:nvPr>
        </p:nvSpPr>
        <p:spPr>
          <a:xfrm>
            <a:off x="542551" y="793561"/>
            <a:ext cx="7945850" cy="954600"/>
          </a:xfrm>
        </p:spPr>
        <p:txBody>
          <a:bodyPr>
            <a:normAutofit/>
          </a:bodyPr>
          <a:lstStyle/>
          <a:p>
            <a:r>
              <a:t>2.2 Targeted Users</a:t>
            </a:r>
          </a:p>
        </p:txBody>
      </p:sp>
      <p:sp>
        <p:nvSpPr>
          <p:cNvPr id="5" name="Google Shape;149;p14">
            <a:extLst>
              <a:ext uri="{FF2B5EF4-FFF2-40B4-BE49-F238E27FC236}">
                <a16:creationId xmlns:a16="http://schemas.microsoft.com/office/drawing/2014/main" id="{4B78E613-4FCE-F0B9-D0EA-E15BC8073941}"/>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marL="146050" lvl="0" indent="0">
              <a:buNone/>
            </a:pPr>
            <a:r>
              <a:rPr sz="1500" b="1"/>
              <a:t>Targeted User Roles &amp; Personas :-</a:t>
            </a:r>
          </a:p>
          <a:p>
            <a:pPr>
              <a:defRPr sz="600"/>
            </a:pPr>
            <a:endParaRPr sz="1500" b="1"/>
          </a:p>
          <a:p>
            <a:r>
              <a:rPr sz="1350" b="1"/>
              <a:t>1. College / Placement Aspirant (Engineering Student): </a:t>
            </a:r>
            <a:r>
              <a:rPr sz="1350" b="0"/>
              <a:t>Focuses on aptitude practice, company-specific test filters (TCS, Infosys, Amazon), weak spot analytics, and countdown exam timers.</a:t>
            </a:r>
          </a:p>
          <a:p>
            <a:pPr>
              <a:defRPr sz="600"/>
            </a:pPr>
            <a:endParaRPr sz="1350" b="0"/>
          </a:p>
          <a:p>
            <a:r>
              <a:rPr sz="1350" b="1"/>
              <a:t>2. Job Seeker / IT Skill Learner: </a:t>
            </a:r>
            <a:r>
              <a:rPr sz="1350" b="0"/>
              <a:t>Focuses on technical course catalog, streaming video masterclasses, DSA &amp; full-stack development, and flashcard revision.</a:t>
            </a:r>
          </a:p>
          <a:p>
            <a:pPr>
              <a:defRPr sz="600"/>
            </a:pPr>
            <a:endParaRPr sz="1350" b="0"/>
          </a:p>
          <a:p>
            <a:r>
              <a:rPr sz="1350" b="1"/>
              <a:t>3. School &amp; Academic Student (GSEB 9-12): </a:t>
            </a:r>
            <a:r>
              <a:rPr sz="1350" b="0"/>
              <a:t>Focuses on foundational science, mathematics chapters, GSEB/NCERT textbooks, and doubt solving.</a:t>
            </a:r>
          </a:p>
        </p:txBody>
      </p:sp>
    </p:spTree>
    <p:extLst>
      <p:ext uri="{BB962C8B-B14F-4D97-AF65-F5344CB8AC3E}">
        <p14:creationId xmlns:p14="http://schemas.microsoft.com/office/powerpoint/2010/main" val="2041350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4A0FC-6B12-4D5D-4DD5-21FCC92BDA18}"/>
              </a:ext>
            </a:extLst>
          </p:cNvPr>
          <p:cNvSpPr>
            <a:spLocks noGrp="1"/>
          </p:cNvSpPr>
          <p:nvPr>
            <p:ph type="title"/>
          </p:nvPr>
        </p:nvSpPr>
        <p:spPr>
          <a:xfrm>
            <a:off x="1088485" y="1881900"/>
            <a:ext cx="6372300" cy="1379700"/>
          </a:xfrm>
        </p:spPr>
        <p:txBody>
          <a:bodyPr>
            <a:normAutofit/>
          </a:bodyPr>
          <a:lstStyle/>
          <a:p>
            <a:r>
              <a:rPr lang="en-US" sz="4000" b="1" dirty="0"/>
              <a:t>3. System Design</a:t>
            </a:r>
            <a:endParaRPr lang="en-IN" sz="4000" dirty="0"/>
          </a:p>
        </p:txBody>
      </p:sp>
    </p:spTree>
    <p:extLst>
      <p:ext uri="{BB962C8B-B14F-4D97-AF65-F5344CB8AC3E}">
        <p14:creationId xmlns:p14="http://schemas.microsoft.com/office/powerpoint/2010/main" val="3476323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FB84-BC05-14BC-E3F7-C872D8C33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5A2CF-1684-DDE6-5DD3-76272C9EFD23}"/>
              </a:ext>
            </a:extLst>
          </p:cNvPr>
          <p:cNvSpPr>
            <a:spLocks noGrp="1"/>
          </p:cNvSpPr>
          <p:nvPr>
            <p:ph type="title"/>
          </p:nvPr>
        </p:nvSpPr>
        <p:spPr>
          <a:xfrm>
            <a:off x="542551" y="793561"/>
            <a:ext cx="7945850" cy="954600"/>
          </a:xfrm>
        </p:spPr>
        <p:txBody>
          <a:bodyPr>
            <a:normAutofit/>
          </a:bodyPr>
          <a:lstStyle/>
          <a:p>
            <a:r>
              <a:rPr lang="en-US" b="1" dirty="0"/>
              <a:t>3.1 Use Case Diagram</a:t>
            </a:r>
            <a:endParaRPr lang="en-IN" dirty="0"/>
          </a:p>
        </p:txBody>
      </p:sp>
      <p:sp>
        <p:nvSpPr>
          <p:cNvPr id="5" name="Google Shape;149;p14">
            <a:extLst>
              <a:ext uri="{FF2B5EF4-FFF2-40B4-BE49-F238E27FC236}">
                <a16:creationId xmlns:a16="http://schemas.microsoft.com/office/drawing/2014/main" id="{9BFA4DBC-51D8-AE93-5B3F-841B6211CDC7}"/>
              </a:ext>
            </a:extLst>
          </p:cNvPr>
          <p:cNvSpPr txBox="1">
            <a:spLocks/>
          </p:cNvSpPr>
          <p:nvPr/>
        </p:nvSpPr>
        <p:spPr>
          <a:xfrm>
            <a:off x="599075" y="1800200"/>
            <a:ext cx="2961881" cy="124036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The following UML Use Case </a:t>
            </a:r>
          </a:p>
          <a:p>
            <a:pPr marL="146050" indent="0">
              <a:buNone/>
            </a:pPr>
            <a:r>
              <a:rPr lang="en-US" sz="1400" dirty="0"/>
              <a:t>Diagram illustrates the interaction </a:t>
            </a:r>
          </a:p>
          <a:p>
            <a:pPr marL="146050" indent="0">
              <a:buNone/>
            </a:pPr>
            <a:r>
              <a:rPr lang="en-US" sz="1400" dirty="0"/>
              <a:t>between each User Role and the</a:t>
            </a:r>
          </a:p>
          <a:p>
            <a:pPr marL="146050" indent="0">
              <a:buNone/>
            </a:pPr>
            <a:r>
              <a:rPr lang="en-US" sz="1400" dirty="0" err="1"/>
              <a:t>MindSprint</a:t>
            </a:r>
            <a:r>
              <a:rPr lang="en-US" sz="1400" dirty="0"/>
              <a:t> System :-</a:t>
            </a:r>
            <a:endParaRPr lang="en-IN" sz="1400" dirty="0"/>
          </a:p>
        </p:txBody>
      </p:sp>
      <p:pic>
        <p:nvPicPr>
          <p:cNvPr id="3" name="Picture 2">
            <a:extLst>
              <a:ext uri="{FF2B5EF4-FFF2-40B4-BE49-F238E27FC236}">
                <a16:creationId xmlns:a16="http://schemas.microsoft.com/office/drawing/2014/main" id="{5DA35833-F64C-ECDD-6583-1DB821FA9D39}"/>
              </a:ext>
            </a:extLst>
          </p:cNvPr>
          <p:cNvPicPr>
            <a:picLocks noChangeAspect="1"/>
          </p:cNvPicPr>
          <p:nvPr/>
        </p:nvPicPr>
        <p:blipFill>
          <a:blip r:embed="rId2"/>
          <a:stretch>
            <a:fillRect/>
          </a:stretch>
        </p:blipFill>
        <p:spPr>
          <a:xfrm>
            <a:off x="3382537" y="1360450"/>
            <a:ext cx="5263517" cy="3546088"/>
          </a:xfrm>
          <a:prstGeom prst="rect">
            <a:avLst/>
          </a:prstGeom>
          <a:ln>
            <a:solidFill>
              <a:schemeClr val="bg2"/>
            </a:solidFill>
          </a:ln>
        </p:spPr>
      </p:pic>
    </p:spTree>
    <p:extLst>
      <p:ext uri="{BB962C8B-B14F-4D97-AF65-F5344CB8AC3E}">
        <p14:creationId xmlns:p14="http://schemas.microsoft.com/office/powerpoint/2010/main" val="3084578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9D5AF-9328-0CD4-B48D-DF4E86A22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92DFC-9DA9-4823-05FA-CB2DBDF12CFF}"/>
              </a:ext>
            </a:extLst>
          </p:cNvPr>
          <p:cNvSpPr>
            <a:spLocks noGrp="1"/>
          </p:cNvSpPr>
          <p:nvPr>
            <p:ph type="title"/>
          </p:nvPr>
        </p:nvSpPr>
        <p:spPr>
          <a:xfrm>
            <a:off x="542551" y="615142"/>
            <a:ext cx="7945850" cy="954600"/>
          </a:xfrm>
        </p:spPr>
        <p:txBody>
          <a:bodyPr>
            <a:normAutofit/>
          </a:bodyPr>
          <a:lstStyle/>
          <a:p>
            <a:r>
              <a:rPr lang="en-US" b="1" dirty="0"/>
              <a:t>3.2 Class Diagram</a:t>
            </a:r>
            <a:endParaRPr lang="en-IN" dirty="0"/>
          </a:p>
        </p:txBody>
      </p:sp>
      <p:pic>
        <p:nvPicPr>
          <p:cNvPr id="4" name="Picture 3">
            <a:extLst>
              <a:ext uri="{FF2B5EF4-FFF2-40B4-BE49-F238E27FC236}">
                <a16:creationId xmlns:a16="http://schemas.microsoft.com/office/drawing/2014/main" id="{99132A2B-FB27-88D2-07E9-82A361CF4D8A}"/>
              </a:ext>
            </a:extLst>
          </p:cNvPr>
          <p:cNvPicPr>
            <a:picLocks noChangeAspect="1"/>
          </p:cNvPicPr>
          <p:nvPr/>
        </p:nvPicPr>
        <p:blipFill>
          <a:blip r:embed="rId2"/>
          <a:stretch>
            <a:fillRect/>
          </a:stretch>
        </p:blipFill>
        <p:spPr>
          <a:xfrm>
            <a:off x="2076307" y="1344443"/>
            <a:ext cx="5120640" cy="3429000"/>
          </a:xfrm>
          <a:prstGeom prst="rect">
            <a:avLst/>
          </a:prstGeom>
          <a:ln>
            <a:solidFill>
              <a:schemeClr val="bg2"/>
            </a:solidFill>
          </a:ln>
        </p:spPr>
      </p:pic>
    </p:spTree>
    <p:extLst>
      <p:ext uri="{BB962C8B-B14F-4D97-AF65-F5344CB8AC3E}">
        <p14:creationId xmlns:p14="http://schemas.microsoft.com/office/powerpoint/2010/main" val="1726594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CE5CC-A38C-428D-DB81-437607005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4E038-546D-C142-2F9A-1E4B91C2BFCF}"/>
              </a:ext>
            </a:extLst>
          </p:cNvPr>
          <p:cNvSpPr>
            <a:spLocks noGrp="1"/>
          </p:cNvSpPr>
          <p:nvPr>
            <p:ph type="title"/>
          </p:nvPr>
        </p:nvSpPr>
        <p:spPr>
          <a:xfrm>
            <a:off x="542551" y="615142"/>
            <a:ext cx="7945850" cy="954600"/>
          </a:xfrm>
        </p:spPr>
        <p:txBody>
          <a:bodyPr>
            <a:normAutofit fontScale="90000"/>
          </a:bodyPr>
          <a:lstStyle/>
          <a:p>
            <a:r>
              <a:rPr lang="en-US" b="1" dirty="0"/>
              <a:t>3.3 Interaction Diagram (Sequence Diagram)</a:t>
            </a:r>
            <a:endParaRPr lang="en-IN" dirty="0"/>
          </a:p>
        </p:txBody>
      </p:sp>
      <p:pic>
        <p:nvPicPr>
          <p:cNvPr id="3" name="Picture 2">
            <a:extLst>
              <a:ext uri="{FF2B5EF4-FFF2-40B4-BE49-F238E27FC236}">
                <a16:creationId xmlns:a16="http://schemas.microsoft.com/office/drawing/2014/main" id="{40E048F1-8FED-3436-1685-32F3EFB27397}"/>
              </a:ext>
            </a:extLst>
          </p:cNvPr>
          <p:cNvPicPr>
            <a:picLocks noChangeAspect="1"/>
          </p:cNvPicPr>
          <p:nvPr/>
        </p:nvPicPr>
        <p:blipFill>
          <a:blip r:embed="rId2"/>
          <a:stretch>
            <a:fillRect/>
          </a:stretch>
        </p:blipFill>
        <p:spPr>
          <a:xfrm>
            <a:off x="1863716" y="1433477"/>
            <a:ext cx="5303520" cy="2962656"/>
          </a:xfrm>
          <a:prstGeom prst="rect">
            <a:avLst/>
          </a:prstGeom>
          <a:ln>
            <a:solidFill>
              <a:schemeClr val="bg2"/>
            </a:solidFill>
          </a:ln>
        </p:spPr>
      </p:pic>
    </p:spTree>
    <p:extLst>
      <p:ext uri="{BB962C8B-B14F-4D97-AF65-F5344CB8AC3E}">
        <p14:creationId xmlns:p14="http://schemas.microsoft.com/office/powerpoint/2010/main" val="182516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AF8A5-09A6-33EE-52F1-8A3BD31B9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81B40-01BC-50DD-D064-A46AAA7994F1}"/>
              </a:ext>
            </a:extLst>
          </p:cNvPr>
          <p:cNvSpPr>
            <a:spLocks noGrp="1"/>
          </p:cNvSpPr>
          <p:nvPr>
            <p:ph type="title"/>
          </p:nvPr>
        </p:nvSpPr>
        <p:spPr>
          <a:xfrm>
            <a:off x="542551" y="615142"/>
            <a:ext cx="7945850" cy="954600"/>
          </a:xfrm>
        </p:spPr>
        <p:txBody>
          <a:bodyPr>
            <a:normAutofit/>
          </a:bodyPr>
          <a:lstStyle/>
          <a:p>
            <a:r>
              <a:rPr lang="en-US" b="1" dirty="0"/>
              <a:t>3.4 Activity Diagram</a:t>
            </a:r>
            <a:endParaRPr lang="en-IN" dirty="0"/>
          </a:p>
        </p:txBody>
      </p:sp>
      <p:sp>
        <p:nvSpPr>
          <p:cNvPr id="5" name="Google Shape;149;p14">
            <a:extLst>
              <a:ext uri="{FF2B5EF4-FFF2-40B4-BE49-F238E27FC236}">
                <a16:creationId xmlns:a16="http://schemas.microsoft.com/office/drawing/2014/main" id="{E86D9B8B-9365-CEC5-5866-627237F7507F}"/>
              </a:ext>
            </a:extLst>
          </p:cNvPr>
          <p:cNvSpPr txBox="1">
            <a:spLocks/>
          </p:cNvSpPr>
          <p:nvPr/>
        </p:nvSpPr>
        <p:spPr>
          <a:xfrm>
            <a:off x="548640" y="1097280"/>
            <a:ext cx="5852160" cy="34747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defRPr sz="1400" b="1"/>
            </a:pPr>
            <a:endParaRPr sz="1250" b="0" dirty="0"/>
          </a:p>
        </p:txBody>
      </p:sp>
      <p:pic>
        <p:nvPicPr>
          <p:cNvPr id="4" name="Picture 3">
            <a:extLst>
              <a:ext uri="{FF2B5EF4-FFF2-40B4-BE49-F238E27FC236}">
                <a16:creationId xmlns:a16="http://schemas.microsoft.com/office/drawing/2014/main" id="{B082FED9-CCF6-B080-5F72-FA8B1ED556B2}"/>
              </a:ext>
            </a:extLst>
          </p:cNvPr>
          <p:cNvPicPr>
            <a:picLocks noChangeAspect="1"/>
          </p:cNvPicPr>
          <p:nvPr/>
        </p:nvPicPr>
        <p:blipFill>
          <a:blip r:embed="rId2"/>
          <a:stretch>
            <a:fillRect/>
          </a:stretch>
        </p:blipFill>
        <p:spPr>
          <a:xfrm>
            <a:off x="3180462" y="1166032"/>
            <a:ext cx="1938528" cy="3474720"/>
          </a:xfrm>
          <a:prstGeom prst="rect">
            <a:avLst/>
          </a:prstGeom>
        </p:spPr>
      </p:pic>
    </p:spTree>
    <p:extLst>
      <p:ext uri="{BB962C8B-B14F-4D97-AF65-F5344CB8AC3E}">
        <p14:creationId xmlns:p14="http://schemas.microsoft.com/office/powerpoint/2010/main" val="1596571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A44AA-2385-4112-6C8E-217C1B1A3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1D50F-A33D-3761-A555-0ABEAF46B63D}"/>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CE73BE99-9349-DB09-C164-D34F7013F4E7}"/>
              </a:ext>
            </a:extLst>
          </p:cNvPr>
          <p:cNvPicPr>
            <a:picLocks noChangeAspect="1"/>
          </p:cNvPicPr>
          <p:nvPr/>
        </p:nvPicPr>
        <p:blipFill>
          <a:blip r:embed="rId2"/>
          <a:stretch>
            <a:fillRect/>
          </a:stretch>
        </p:blipFill>
        <p:spPr>
          <a:xfrm>
            <a:off x="1761777" y="1427356"/>
            <a:ext cx="5620446" cy="3438640"/>
          </a:xfrm>
          <a:prstGeom prst="rect">
            <a:avLst/>
          </a:prstGeom>
        </p:spPr>
      </p:pic>
    </p:spTree>
    <p:extLst>
      <p:ext uri="{BB962C8B-B14F-4D97-AF65-F5344CB8AC3E}">
        <p14:creationId xmlns:p14="http://schemas.microsoft.com/office/powerpoint/2010/main" val="894298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C34BC-E32C-8BCE-C407-01954CDA8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75585-4472-7A27-17F6-92222D5FA722}"/>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6" name="Picture 5">
            <a:extLst>
              <a:ext uri="{FF2B5EF4-FFF2-40B4-BE49-F238E27FC236}">
                <a16:creationId xmlns:a16="http://schemas.microsoft.com/office/drawing/2014/main" id="{DBC7C511-182A-C453-E8FC-335B9309179D}"/>
              </a:ext>
            </a:extLst>
          </p:cNvPr>
          <p:cNvPicPr>
            <a:picLocks noChangeAspect="1"/>
          </p:cNvPicPr>
          <p:nvPr/>
        </p:nvPicPr>
        <p:blipFill>
          <a:blip r:embed="rId2"/>
          <a:stretch>
            <a:fillRect/>
          </a:stretch>
        </p:blipFill>
        <p:spPr>
          <a:xfrm>
            <a:off x="1568154" y="1383806"/>
            <a:ext cx="6111770" cy="3520745"/>
          </a:xfrm>
          <a:prstGeom prst="rect">
            <a:avLst/>
          </a:prstGeom>
        </p:spPr>
      </p:pic>
    </p:spTree>
    <p:extLst>
      <p:ext uri="{BB962C8B-B14F-4D97-AF65-F5344CB8AC3E}">
        <p14:creationId xmlns:p14="http://schemas.microsoft.com/office/powerpoint/2010/main" val="2443456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F1A0E-3534-E209-5A2F-56268ABFC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4DAF9-3176-7568-5CC8-A37828130C7D}"/>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6" name="Picture 5">
            <a:extLst>
              <a:ext uri="{FF2B5EF4-FFF2-40B4-BE49-F238E27FC236}">
                <a16:creationId xmlns:a16="http://schemas.microsoft.com/office/drawing/2014/main" id="{21F48197-E147-DF89-89FF-C11C812C7CC9}"/>
              </a:ext>
            </a:extLst>
          </p:cNvPr>
          <p:cNvPicPr>
            <a:picLocks noChangeAspect="1"/>
          </p:cNvPicPr>
          <p:nvPr/>
        </p:nvPicPr>
        <p:blipFill>
          <a:blip r:embed="rId2"/>
          <a:stretch>
            <a:fillRect/>
          </a:stretch>
        </p:blipFill>
        <p:spPr>
          <a:xfrm>
            <a:off x="1516115" y="1328144"/>
            <a:ext cx="6111770" cy="3513124"/>
          </a:xfrm>
          <a:prstGeom prst="rect">
            <a:avLst/>
          </a:prstGeom>
        </p:spPr>
      </p:pic>
    </p:spTree>
    <p:extLst>
      <p:ext uri="{BB962C8B-B14F-4D97-AF65-F5344CB8AC3E}">
        <p14:creationId xmlns:p14="http://schemas.microsoft.com/office/powerpoint/2010/main" val="184416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A71E6-5F35-2025-DA80-6A1404777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B6D66-A323-07D8-4855-0159AC89DC33}"/>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6" name="Picture 5">
            <a:extLst>
              <a:ext uri="{FF2B5EF4-FFF2-40B4-BE49-F238E27FC236}">
                <a16:creationId xmlns:a16="http://schemas.microsoft.com/office/drawing/2014/main" id="{053A6E1B-D65A-EF7B-4263-46C5FAF8D9E0}"/>
              </a:ext>
            </a:extLst>
          </p:cNvPr>
          <p:cNvPicPr>
            <a:picLocks noChangeAspect="1"/>
          </p:cNvPicPr>
          <p:nvPr/>
        </p:nvPicPr>
        <p:blipFill>
          <a:blip r:embed="rId2"/>
          <a:stretch>
            <a:fillRect/>
          </a:stretch>
        </p:blipFill>
        <p:spPr>
          <a:xfrm>
            <a:off x="1864737" y="1315378"/>
            <a:ext cx="5301478" cy="3611380"/>
          </a:xfrm>
          <a:prstGeom prst="rect">
            <a:avLst/>
          </a:prstGeom>
        </p:spPr>
      </p:pic>
    </p:spTree>
    <p:extLst>
      <p:ext uri="{BB962C8B-B14F-4D97-AF65-F5344CB8AC3E}">
        <p14:creationId xmlns:p14="http://schemas.microsoft.com/office/powerpoint/2010/main" val="180475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FB55D-0237-29AB-A8C9-EDF47D67F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44B88-654B-AC27-23FB-C3ED164F0107}"/>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614B4274-7965-4C7D-AC8E-0DD975EB23DB}"/>
              </a:ext>
            </a:extLst>
          </p:cNvPr>
          <p:cNvPicPr>
            <a:picLocks noChangeAspect="1"/>
          </p:cNvPicPr>
          <p:nvPr/>
        </p:nvPicPr>
        <p:blipFill>
          <a:blip r:embed="rId2"/>
          <a:stretch>
            <a:fillRect/>
          </a:stretch>
        </p:blipFill>
        <p:spPr>
          <a:xfrm>
            <a:off x="1455538" y="1092442"/>
            <a:ext cx="5998856" cy="3680280"/>
          </a:xfrm>
          <a:prstGeom prst="rect">
            <a:avLst/>
          </a:prstGeom>
        </p:spPr>
      </p:pic>
    </p:spTree>
    <p:extLst>
      <p:ext uri="{BB962C8B-B14F-4D97-AF65-F5344CB8AC3E}">
        <p14:creationId xmlns:p14="http://schemas.microsoft.com/office/powerpoint/2010/main" val="2193791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F5427-29A5-4E0B-8088-3BE0A0EF9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29F08-47F3-C412-D473-D02D0952D197}"/>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71E08856-8C7E-746F-9841-991E25F69632}"/>
              </a:ext>
            </a:extLst>
          </p:cNvPr>
          <p:cNvPicPr>
            <a:picLocks noChangeAspect="1"/>
          </p:cNvPicPr>
          <p:nvPr/>
        </p:nvPicPr>
        <p:blipFill>
          <a:blip r:embed="rId2"/>
          <a:stretch>
            <a:fillRect/>
          </a:stretch>
        </p:blipFill>
        <p:spPr>
          <a:xfrm>
            <a:off x="1561839" y="1214579"/>
            <a:ext cx="6020322" cy="3680779"/>
          </a:xfrm>
          <a:prstGeom prst="rect">
            <a:avLst/>
          </a:prstGeom>
        </p:spPr>
      </p:pic>
    </p:spTree>
    <p:extLst>
      <p:ext uri="{BB962C8B-B14F-4D97-AF65-F5344CB8AC3E}">
        <p14:creationId xmlns:p14="http://schemas.microsoft.com/office/powerpoint/2010/main" val="1472031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DD4F1-6FC0-96FD-8EE7-F56D3C53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EAAD9-5E86-A27F-C672-1F0B64B148C7}"/>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3657CF2D-4DA1-9AA4-0D3D-EECD7A028B1C}"/>
              </a:ext>
            </a:extLst>
          </p:cNvPr>
          <p:cNvPicPr>
            <a:picLocks noChangeAspect="1"/>
          </p:cNvPicPr>
          <p:nvPr/>
        </p:nvPicPr>
        <p:blipFill>
          <a:blip r:embed="rId2"/>
          <a:stretch>
            <a:fillRect/>
          </a:stretch>
        </p:blipFill>
        <p:spPr>
          <a:xfrm>
            <a:off x="1497694" y="1153987"/>
            <a:ext cx="6035563" cy="3772227"/>
          </a:xfrm>
          <a:prstGeom prst="rect">
            <a:avLst/>
          </a:prstGeom>
        </p:spPr>
      </p:pic>
    </p:spTree>
    <p:extLst>
      <p:ext uri="{BB962C8B-B14F-4D97-AF65-F5344CB8AC3E}">
        <p14:creationId xmlns:p14="http://schemas.microsoft.com/office/powerpoint/2010/main" val="4293429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EB43-28B9-CE8F-F0E9-EB9D75257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09FB4-8B1F-3BA7-AD79-2F3E0A669A05}"/>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3B301DF7-EBEF-734A-06C5-F042F394C79D}"/>
              </a:ext>
            </a:extLst>
          </p:cNvPr>
          <p:cNvPicPr>
            <a:picLocks noChangeAspect="1"/>
          </p:cNvPicPr>
          <p:nvPr/>
        </p:nvPicPr>
        <p:blipFill>
          <a:blip r:embed="rId2"/>
          <a:stretch>
            <a:fillRect/>
          </a:stretch>
        </p:blipFill>
        <p:spPr>
          <a:xfrm>
            <a:off x="1505315" y="1469499"/>
            <a:ext cx="6020322" cy="3200677"/>
          </a:xfrm>
          <a:prstGeom prst="rect">
            <a:avLst/>
          </a:prstGeom>
        </p:spPr>
      </p:pic>
    </p:spTree>
    <p:extLst>
      <p:ext uri="{BB962C8B-B14F-4D97-AF65-F5344CB8AC3E}">
        <p14:creationId xmlns:p14="http://schemas.microsoft.com/office/powerpoint/2010/main" val="3577708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4531A-4520-9D93-3B8F-38C96D73F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680D-D4E4-0239-F468-6B60855689C6}"/>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0A8724D2-EB34-9948-DA1B-BEC083B6EC0C}"/>
              </a:ext>
            </a:extLst>
          </p:cNvPr>
          <p:cNvPicPr>
            <a:picLocks noChangeAspect="1"/>
          </p:cNvPicPr>
          <p:nvPr/>
        </p:nvPicPr>
        <p:blipFill>
          <a:blip r:embed="rId2"/>
          <a:stretch>
            <a:fillRect/>
          </a:stretch>
        </p:blipFill>
        <p:spPr>
          <a:xfrm>
            <a:off x="1523736" y="1380102"/>
            <a:ext cx="6096528" cy="3215919"/>
          </a:xfrm>
          <a:prstGeom prst="rect">
            <a:avLst/>
          </a:prstGeom>
        </p:spPr>
      </p:pic>
    </p:spTree>
    <p:extLst>
      <p:ext uri="{BB962C8B-B14F-4D97-AF65-F5344CB8AC3E}">
        <p14:creationId xmlns:p14="http://schemas.microsoft.com/office/powerpoint/2010/main" val="73724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E2CF1-6022-A01B-0E9E-D708A41B1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4BCA9-32F7-4D42-0C1F-1E59ED77B642}"/>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054429ED-5968-512A-DC26-2ECBA02489E0}"/>
              </a:ext>
            </a:extLst>
          </p:cNvPr>
          <p:cNvPicPr>
            <a:picLocks noChangeAspect="1"/>
          </p:cNvPicPr>
          <p:nvPr/>
        </p:nvPicPr>
        <p:blipFill>
          <a:blip r:embed="rId2"/>
          <a:stretch>
            <a:fillRect/>
          </a:stretch>
        </p:blipFill>
        <p:spPr>
          <a:xfrm>
            <a:off x="1760228" y="1255203"/>
            <a:ext cx="5623543" cy="3616654"/>
          </a:xfrm>
          <a:prstGeom prst="rect">
            <a:avLst/>
          </a:prstGeom>
        </p:spPr>
      </p:pic>
    </p:spTree>
    <p:extLst>
      <p:ext uri="{BB962C8B-B14F-4D97-AF65-F5344CB8AC3E}">
        <p14:creationId xmlns:p14="http://schemas.microsoft.com/office/powerpoint/2010/main" val="3254925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E21E-38B6-95D6-2496-9391CE82B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B6FD3-BA30-A6CC-F443-7A3D591F948D}"/>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pic>
        <p:nvPicPr>
          <p:cNvPr id="4" name="Picture 3">
            <a:extLst>
              <a:ext uri="{FF2B5EF4-FFF2-40B4-BE49-F238E27FC236}">
                <a16:creationId xmlns:a16="http://schemas.microsoft.com/office/drawing/2014/main" id="{3DC522C2-0E51-C63F-1FA6-407C79B473B5}"/>
              </a:ext>
            </a:extLst>
          </p:cNvPr>
          <p:cNvPicPr>
            <a:picLocks noChangeAspect="1"/>
          </p:cNvPicPr>
          <p:nvPr/>
        </p:nvPicPr>
        <p:blipFill>
          <a:blip r:embed="rId2"/>
          <a:stretch>
            <a:fillRect/>
          </a:stretch>
        </p:blipFill>
        <p:spPr>
          <a:xfrm>
            <a:off x="1504684" y="1556300"/>
            <a:ext cx="6134632" cy="2972058"/>
          </a:xfrm>
          <a:prstGeom prst="rect">
            <a:avLst/>
          </a:prstGeom>
        </p:spPr>
      </p:pic>
    </p:spTree>
    <p:extLst>
      <p:ext uri="{BB962C8B-B14F-4D97-AF65-F5344CB8AC3E}">
        <p14:creationId xmlns:p14="http://schemas.microsoft.com/office/powerpoint/2010/main" val="1576409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lstStyle/>
          <a:p>
            <a:r>
              <a:rPr sz="4000" b="1" dirty="0"/>
              <a:t>4. Development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630010"/>
            <a:ext cx="7505700" cy="954600"/>
          </a:xfrm>
        </p:spPr>
        <p:txBody>
          <a:bodyPr/>
          <a:lstStyle/>
          <a:p>
            <a:r>
              <a:rPr dirty="0"/>
              <a:t>4.1 Coding Standards</a:t>
            </a:r>
          </a:p>
        </p:txBody>
      </p:sp>
      <p:sp>
        <p:nvSpPr>
          <p:cNvPr id="3" name="TextBox 2"/>
          <p:cNvSpPr txBox="1"/>
          <p:nvPr/>
        </p:nvSpPr>
        <p:spPr>
          <a:xfrm>
            <a:off x="548640" y="1543446"/>
            <a:ext cx="8046720" cy="2970044"/>
          </a:xfrm>
          <a:prstGeom prst="rect">
            <a:avLst/>
          </a:prstGeom>
          <a:noFill/>
        </p:spPr>
        <p:txBody>
          <a:bodyPr wrap="square">
            <a:spAutoFit/>
          </a:bodyPr>
          <a:lstStyle/>
          <a:p>
            <a:r>
              <a:rPr sz="1100" b="1" dirty="0">
                <a:solidFill>
                  <a:schemeClr val="bg2"/>
                </a:solidFill>
              </a:rPr>
              <a:t>4.1.1 Architectural &amp; Structural Principles :-</a:t>
            </a:r>
            <a:endParaRPr lang="en-US" sz="1100" b="1" dirty="0">
              <a:solidFill>
                <a:schemeClr val="bg2"/>
              </a:solidFill>
            </a:endParaRPr>
          </a:p>
          <a:p>
            <a:endParaRPr sz="1100" b="1" dirty="0">
              <a:solidFill>
                <a:schemeClr val="bg2"/>
              </a:solidFill>
            </a:endParaRPr>
          </a:p>
          <a:p>
            <a:r>
              <a:rPr sz="1100" b="1" dirty="0">
                <a:solidFill>
                  <a:schemeClr val="bg2"/>
                </a:solidFill>
              </a:rPr>
              <a:t>Component-Driven Development (CDD): </a:t>
            </a:r>
            <a:r>
              <a:rPr sz="1100" b="0" dirty="0">
                <a:solidFill>
                  <a:schemeClr val="bg2"/>
                </a:solidFill>
              </a:rPr>
              <a:t>Modular, reusable UI components in /components (e.g., </a:t>
            </a:r>
            <a:r>
              <a:rPr sz="1100" b="0" dirty="0" err="1">
                <a:solidFill>
                  <a:schemeClr val="bg2"/>
                </a:solidFill>
              </a:rPr>
              <a:t>QuestionPalette</a:t>
            </a:r>
            <a:r>
              <a:rPr sz="1100" b="0" dirty="0">
                <a:solidFill>
                  <a:schemeClr val="bg2"/>
                </a:solidFill>
              </a:rPr>
              <a:t>, </a:t>
            </a:r>
            <a:r>
              <a:rPr sz="1100" b="0" dirty="0" err="1">
                <a:solidFill>
                  <a:schemeClr val="bg2"/>
                </a:solidFill>
              </a:rPr>
              <a:t>WeakSpotAnalyzer</a:t>
            </a:r>
            <a:r>
              <a:rPr sz="1100" b="0" dirty="0">
                <a:solidFill>
                  <a:schemeClr val="bg2"/>
                </a:solidFill>
              </a:rPr>
              <a:t>).</a:t>
            </a:r>
          </a:p>
          <a:p>
            <a:r>
              <a:rPr sz="1100" b="1" dirty="0">
                <a:solidFill>
                  <a:schemeClr val="bg2"/>
                </a:solidFill>
              </a:rPr>
              <a:t>File-Based Routing: </a:t>
            </a:r>
            <a:r>
              <a:rPr sz="1100" b="0" dirty="0">
                <a:solidFill>
                  <a:schemeClr val="bg2"/>
                </a:solidFill>
              </a:rPr>
              <a:t>Follows Expo Router conventions in /app for declarative, stack-based routing.</a:t>
            </a:r>
          </a:p>
          <a:p>
            <a:r>
              <a:rPr sz="1100" b="1" dirty="0">
                <a:solidFill>
                  <a:schemeClr val="bg2"/>
                </a:solidFill>
              </a:rPr>
              <a:t>Service Layer Abstraction: </a:t>
            </a:r>
            <a:r>
              <a:rPr sz="1100" b="0" dirty="0">
                <a:solidFill>
                  <a:schemeClr val="bg2"/>
                </a:solidFill>
              </a:rPr>
              <a:t>Centralized REST communication in /services/</a:t>
            </a:r>
            <a:r>
              <a:rPr sz="1100" b="0" dirty="0" err="1">
                <a:solidFill>
                  <a:schemeClr val="bg2"/>
                </a:solidFill>
              </a:rPr>
              <a:t>api.ts</a:t>
            </a:r>
            <a:r>
              <a:rPr sz="1100" b="0" dirty="0">
                <a:solidFill>
                  <a:schemeClr val="bg2"/>
                </a:solidFill>
              </a:rPr>
              <a:t>; presentation components never call fetch directly.</a:t>
            </a:r>
          </a:p>
          <a:p>
            <a:r>
              <a:rPr sz="1100" b="1" dirty="0">
                <a:solidFill>
                  <a:schemeClr val="bg2"/>
                </a:solidFill>
              </a:rPr>
              <a:t>Backend MVC Architecture: </a:t>
            </a:r>
            <a:r>
              <a:rPr sz="1100" b="0" dirty="0">
                <a:solidFill>
                  <a:schemeClr val="bg2"/>
                </a:solidFill>
              </a:rPr>
              <a:t>Separation of concerns between Mongoose models (/backend/models), routes, and business controllers.</a:t>
            </a:r>
          </a:p>
          <a:p>
            <a:pPr>
              <a:defRPr sz="400"/>
            </a:pPr>
            <a:endParaRPr sz="1100" b="0" dirty="0">
              <a:solidFill>
                <a:schemeClr val="bg2"/>
              </a:solidFill>
            </a:endParaRPr>
          </a:p>
          <a:p>
            <a:r>
              <a:rPr sz="1100" b="1" dirty="0">
                <a:solidFill>
                  <a:schemeClr val="bg2"/>
                </a:solidFill>
              </a:rPr>
              <a:t>4.1.2 Naming Conventions :-</a:t>
            </a:r>
          </a:p>
          <a:p>
            <a:r>
              <a:rPr sz="1100" b="1" dirty="0">
                <a:solidFill>
                  <a:schemeClr val="bg2"/>
                </a:solidFill>
              </a:rPr>
              <a:t>Component Files &amp; Interfaces: </a:t>
            </a:r>
            <a:r>
              <a:rPr sz="1100" b="0" dirty="0" err="1">
                <a:solidFill>
                  <a:schemeClr val="bg2"/>
                </a:solidFill>
              </a:rPr>
              <a:t>PascalCase</a:t>
            </a:r>
            <a:r>
              <a:rPr sz="1100" b="0" dirty="0">
                <a:solidFill>
                  <a:schemeClr val="bg2"/>
                </a:solidFill>
              </a:rPr>
              <a:t> is strictly enforced (e.g., </a:t>
            </a:r>
            <a:r>
              <a:rPr sz="1100" b="0" dirty="0" err="1">
                <a:solidFill>
                  <a:schemeClr val="bg2"/>
                </a:solidFill>
              </a:rPr>
              <a:t>WeakSpotAnalyzer.tsx</a:t>
            </a:r>
            <a:r>
              <a:rPr sz="1100" b="0" dirty="0">
                <a:solidFill>
                  <a:schemeClr val="bg2"/>
                </a:solidFill>
              </a:rPr>
              <a:t>, </a:t>
            </a:r>
            <a:r>
              <a:rPr sz="1100" b="0" dirty="0" err="1">
                <a:solidFill>
                  <a:schemeClr val="bg2"/>
                </a:solidFill>
              </a:rPr>
              <a:t>Question.ts</a:t>
            </a:r>
            <a:r>
              <a:rPr sz="1100" b="0" dirty="0">
                <a:solidFill>
                  <a:schemeClr val="bg2"/>
                </a:solidFill>
              </a:rPr>
              <a:t>).</a:t>
            </a:r>
          </a:p>
          <a:p>
            <a:r>
              <a:rPr sz="1100" b="1" dirty="0">
                <a:solidFill>
                  <a:schemeClr val="bg2"/>
                </a:solidFill>
              </a:rPr>
              <a:t>Functions, Methods &amp; Hooks: </a:t>
            </a:r>
            <a:r>
              <a:rPr sz="1100" b="0" dirty="0">
                <a:solidFill>
                  <a:schemeClr val="bg2"/>
                </a:solidFill>
              </a:rPr>
              <a:t>camelCase is used for handlers, utilities, and custom React hooks (e.g., </a:t>
            </a:r>
            <a:r>
              <a:rPr sz="1100" b="0" dirty="0" err="1">
                <a:solidFill>
                  <a:schemeClr val="bg2"/>
                </a:solidFill>
              </a:rPr>
              <a:t>useAuth</a:t>
            </a:r>
            <a:r>
              <a:rPr sz="1100" b="0" dirty="0">
                <a:solidFill>
                  <a:schemeClr val="bg2"/>
                </a:solidFill>
              </a:rPr>
              <a:t>, </a:t>
            </a:r>
            <a:r>
              <a:rPr sz="1100" b="0" dirty="0" err="1">
                <a:solidFill>
                  <a:schemeClr val="bg2"/>
                </a:solidFill>
              </a:rPr>
              <a:t>getQuestions</a:t>
            </a:r>
            <a:r>
              <a:rPr sz="1100" b="0" dirty="0">
                <a:solidFill>
                  <a:schemeClr val="bg2"/>
                </a:solidFill>
              </a:rPr>
              <a:t>).</a:t>
            </a:r>
          </a:p>
          <a:p>
            <a:r>
              <a:rPr sz="1100" b="1" dirty="0">
                <a:solidFill>
                  <a:schemeClr val="bg2"/>
                </a:solidFill>
              </a:rPr>
              <a:t>Constants &amp; Environment Keys: </a:t>
            </a:r>
            <a:r>
              <a:rPr sz="1100" b="0" dirty="0">
                <a:solidFill>
                  <a:schemeClr val="bg2"/>
                </a:solidFill>
              </a:rPr>
              <a:t>UPPER_SNAKE_CASE is reserved for constants and env keys (e.g., EXPO_PUBLIC_API_URL).</a:t>
            </a:r>
          </a:p>
          <a:p>
            <a:r>
              <a:rPr sz="1100" b="1" dirty="0">
                <a:solidFill>
                  <a:schemeClr val="bg2"/>
                </a:solidFill>
              </a:rPr>
              <a:t>Route Files: </a:t>
            </a:r>
            <a:r>
              <a:rPr sz="1100" b="0" dirty="0">
                <a:solidFill>
                  <a:schemeClr val="bg2"/>
                </a:solidFill>
              </a:rPr>
              <a:t>kebab-case is utilized for Expo Router paths (e.g., doubt-</a:t>
            </a:r>
            <a:r>
              <a:rPr sz="1100" b="0" dirty="0" err="1">
                <a:solidFill>
                  <a:schemeClr val="bg2"/>
                </a:solidFill>
              </a:rPr>
              <a:t>solver.tsx</a:t>
            </a:r>
            <a:r>
              <a:rPr sz="1100" b="0" dirty="0">
                <a:solidFill>
                  <a:schemeClr val="bg2"/>
                </a:solidFill>
              </a:rPr>
              <a:t>, quiz-</a:t>
            </a:r>
            <a:r>
              <a:rPr sz="1100" b="0" dirty="0" err="1">
                <a:solidFill>
                  <a:schemeClr val="bg2"/>
                </a:solidFill>
              </a:rPr>
              <a:t>duel.tsx</a:t>
            </a:r>
            <a:r>
              <a:rPr sz="1100" b="0" dirty="0">
                <a:solidFill>
                  <a:schemeClr val="bg2"/>
                </a:solidFill>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585405"/>
            <a:ext cx="7505700" cy="954600"/>
          </a:xfrm>
        </p:spPr>
        <p:txBody>
          <a:bodyPr/>
          <a:lstStyle/>
          <a:p>
            <a:r>
              <a:rPr dirty="0"/>
              <a:t>4.1 Coding Standards</a:t>
            </a:r>
          </a:p>
        </p:txBody>
      </p:sp>
      <p:sp>
        <p:nvSpPr>
          <p:cNvPr id="3" name="TextBox 2"/>
          <p:cNvSpPr txBox="1"/>
          <p:nvPr/>
        </p:nvSpPr>
        <p:spPr>
          <a:xfrm>
            <a:off x="548640" y="1540005"/>
            <a:ext cx="8046720" cy="2693045"/>
          </a:xfrm>
          <a:prstGeom prst="rect">
            <a:avLst/>
          </a:prstGeom>
          <a:noFill/>
        </p:spPr>
        <p:txBody>
          <a:bodyPr wrap="square">
            <a:spAutoFit/>
          </a:bodyPr>
          <a:lstStyle/>
          <a:p>
            <a:r>
              <a:rPr sz="1200" b="1" dirty="0">
                <a:solidFill>
                  <a:schemeClr val="bg2"/>
                </a:solidFill>
              </a:rPr>
              <a:t>4.1.3 Static Typing &amp; Code Formatting :-</a:t>
            </a:r>
            <a:endParaRPr lang="en-US" sz="1200" b="1" dirty="0">
              <a:solidFill>
                <a:schemeClr val="bg2"/>
              </a:solidFill>
            </a:endParaRPr>
          </a:p>
          <a:p>
            <a:endParaRPr sz="1200" b="1" dirty="0">
              <a:solidFill>
                <a:schemeClr val="bg2"/>
              </a:solidFill>
            </a:endParaRPr>
          </a:p>
          <a:p>
            <a:r>
              <a:rPr sz="1100" b="1" dirty="0">
                <a:solidFill>
                  <a:schemeClr val="bg2"/>
                </a:solidFill>
              </a:rPr>
              <a:t>TypeScript Strict Mode: </a:t>
            </a:r>
            <a:r>
              <a:rPr sz="1100" b="0" dirty="0">
                <a:solidFill>
                  <a:schemeClr val="bg2"/>
                </a:solidFill>
              </a:rPr>
              <a:t>Configured with strict: true, eliminating implicit 'any' and catching nullability issues at compile-time.</a:t>
            </a:r>
          </a:p>
          <a:p>
            <a:r>
              <a:rPr sz="1100" b="1" dirty="0">
                <a:solidFill>
                  <a:schemeClr val="bg2"/>
                </a:solidFill>
              </a:rPr>
              <a:t>Explicit Interfaces &amp; Root Aliasing: </a:t>
            </a:r>
            <a:r>
              <a:rPr sz="1100" b="0" dirty="0">
                <a:solidFill>
                  <a:schemeClr val="bg2"/>
                </a:solidFill>
              </a:rPr>
              <a:t>Dedicated models for all API payloads and component props; path alias (@/*) removes relative paths.</a:t>
            </a:r>
          </a:p>
          <a:p>
            <a:r>
              <a:rPr sz="1100" b="1" dirty="0" err="1">
                <a:solidFill>
                  <a:schemeClr val="bg2"/>
                </a:solidFill>
              </a:rPr>
              <a:t>ESLint</a:t>
            </a:r>
            <a:r>
              <a:rPr sz="1100" b="1" dirty="0">
                <a:solidFill>
                  <a:schemeClr val="bg2"/>
                </a:solidFill>
              </a:rPr>
              <a:t> Flat Config: </a:t>
            </a:r>
            <a:r>
              <a:rPr sz="1100" b="0" dirty="0">
                <a:solidFill>
                  <a:schemeClr val="bg2"/>
                </a:solidFill>
              </a:rPr>
              <a:t>Code style validated via eslint.config.js extending </a:t>
            </a:r>
            <a:r>
              <a:rPr sz="1100" b="0" dirty="0" err="1">
                <a:solidFill>
                  <a:schemeClr val="bg2"/>
                </a:solidFill>
              </a:rPr>
              <a:t>eslint</a:t>
            </a:r>
            <a:r>
              <a:rPr sz="1100" b="0" dirty="0">
                <a:solidFill>
                  <a:schemeClr val="bg2"/>
                </a:solidFill>
              </a:rPr>
              <a:t>-config-expo (2-space indent, strict semicolons).</a:t>
            </a:r>
          </a:p>
          <a:p>
            <a:pPr>
              <a:defRPr sz="400"/>
            </a:pPr>
            <a:endParaRPr sz="1100" b="0" dirty="0">
              <a:solidFill>
                <a:schemeClr val="bg2"/>
              </a:solidFill>
            </a:endParaRPr>
          </a:p>
          <a:p>
            <a:r>
              <a:rPr sz="1200" b="1" dirty="0">
                <a:solidFill>
                  <a:schemeClr val="bg2"/>
                </a:solidFill>
              </a:rPr>
              <a:t>4.1.4 State Management, Offline Resilience &amp; Security :-</a:t>
            </a:r>
            <a:endParaRPr lang="en-US" sz="1200" b="1" dirty="0">
              <a:solidFill>
                <a:schemeClr val="bg2"/>
              </a:solidFill>
            </a:endParaRPr>
          </a:p>
          <a:p>
            <a:endParaRPr sz="1200" b="1" dirty="0">
              <a:solidFill>
                <a:schemeClr val="bg2"/>
              </a:solidFill>
            </a:endParaRPr>
          </a:p>
          <a:p>
            <a:r>
              <a:rPr sz="1100" b="1" dirty="0">
                <a:solidFill>
                  <a:schemeClr val="bg2"/>
                </a:solidFill>
              </a:rPr>
              <a:t>Global State via Context API: </a:t>
            </a:r>
            <a:r>
              <a:rPr sz="1100" b="0" dirty="0" err="1">
                <a:solidFill>
                  <a:schemeClr val="bg2"/>
                </a:solidFill>
              </a:rPr>
              <a:t>ThemeContext</a:t>
            </a:r>
            <a:r>
              <a:rPr sz="1100" b="0" dirty="0">
                <a:solidFill>
                  <a:schemeClr val="bg2"/>
                </a:solidFill>
              </a:rPr>
              <a:t> (Dark/Light mode) and </a:t>
            </a:r>
            <a:r>
              <a:rPr sz="1100" b="0" dirty="0" err="1">
                <a:solidFill>
                  <a:schemeClr val="bg2"/>
                </a:solidFill>
              </a:rPr>
              <a:t>AuthContext</a:t>
            </a:r>
            <a:r>
              <a:rPr sz="1100" b="0" dirty="0">
                <a:solidFill>
                  <a:schemeClr val="bg2"/>
                </a:solidFill>
              </a:rPr>
              <a:t> (session persistence) avoid prop drilling.</a:t>
            </a:r>
          </a:p>
          <a:p>
            <a:r>
              <a:rPr sz="1100" b="1" dirty="0">
                <a:solidFill>
                  <a:schemeClr val="bg2"/>
                </a:solidFill>
              </a:rPr>
              <a:t>Transparent Offline Resilience: </a:t>
            </a:r>
            <a:r>
              <a:rPr sz="1100" b="0" dirty="0" err="1">
                <a:solidFill>
                  <a:schemeClr val="bg2"/>
                </a:solidFill>
              </a:rPr>
              <a:t>ApiService</a:t>
            </a:r>
            <a:r>
              <a:rPr sz="1100" b="0" dirty="0">
                <a:solidFill>
                  <a:schemeClr val="bg2"/>
                </a:solidFill>
              </a:rPr>
              <a:t> intercepts network connectivity dropouts and transparently serves verified local datasets.</a:t>
            </a:r>
          </a:p>
          <a:p>
            <a:r>
              <a:rPr sz="1100" b="1" dirty="0">
                <a:solidFill>
                  <a:schemeClr val="bg2"/>
                </a:solidFill>
              </a:rPr>
              <a:t>Error Boundary Protection: </a:t>
            </a:r>
            <a:r>
              <a:rPr sz="1100" b="0" dirty="0">
                <a:solidFill>
                  <a:schemeClr val="bg2"/>
                </a:solidFill>
              </a:rPr>
              <a:t>React Error Boundaries encapsulate root layout to prevent fatal app crashes from UI exceptions.</a:t>
            </a:r>
          </a:p>
          <a:p>
            <a:r>
              <a:rPr sz="1100" b="1" dirty="0">
                <a:solidFill>
                  <a:schemeClr val="bg2"/>
                </a:solidFill>
              </a:rPr>
              <a:t>Backend Security Standards: </a:t>
            </a:r>
            <a:r>
              <a:rPr sz="1100" b="0" dirty="0">
                <a:solidFill>
                  <a:schemeClr val="bg2"/>
                </a:solidFill>
              </a:rPr>
              <a:t>Passwords encrypted via </a:t>
            </a:r>
            <a:r>
              <a:rPr sz="1100" b="0" dirty="0" err="1">
                <a:solidFill>
                  <a:schemeClr val="bg2"/>
                </a:solidFill>
              </a:rPr>
              <a:t>bcryptjs</a:t>
            </a:r>
            <a:r>
              <a:rPr sz="1100" b="0" dirty="0">
                <a:solidFill>
                  <a:schemeClr val="bg2"/>
                </a:solidFill>
              </a:rPr>
              <a:t> (10 salt rounds); REST APIs protected with JWT bearer tokens.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26703"/>
            <a:ext cx="7505700" cy="954600"/>
          </a:xfrm>
        </p:spPr>
        <p:txBody>
          <a:bodyPr>
            <a:normAutofit fontScale="90000"/>
          </a:bodyPr>
          <a:lstStyle/>
          <a:p>
            <a:r>
              <a:rPr dirty="0"/>
              <a:t>4.2 Screen Shots: Onboarding &amp; Authentication</a:t>
            </a:r>
          </a:p>
        </p:txBody>
      </p:sp>
      <p:pic>
        <p:nvPicPr>
          <p:cNvPr id="3" name="Picture 2" descr="image.png"/>
          <p:cNvPicPr>
            <a:picLocks noChangeAspect="1"/>
          </p:cNvPicPr>
          <p:nvPr/>
        </p:nvPicPr>
        <p:blipFill>
          <a:blip r:embed="rId2"/>
          <a:stretch>
            <a:fillRect/>
          </a:stretch>
        </p:blipFill>
        <p:spPr>
          <a:xfrm>
            <a:off x="1623780" y="960120"/>
            <a:ext cx="2423160" cy="3931920"/>
          </a:xfrm>
          <a:prstGeom prst="rect">
            <a:avLst/>
          </a:prstGeom>
          <a:ln>
            <a:solidFill>
              <a:schemeClr val="bg2"/>
            </a:solidFill>
          </a:ln>
        </p:spPr>
      </p:pic>
      <p:pic>
        <p:nvPicPr>
          <p:cNvPr id="4" name="Picture 3" descr="image.png"/>
          <p:cNvPicPr>
            <a:picLocks noChangeAspect="1"/>
          </p:cNvPicPr>
          <p:nvPr/>
        </p:nvPicPr>
        <p:blipFill>
          <a:blip r:embed="rId3"/>
          <a:stretch>
            <a:fillRect/>
          </a:stretch>
        </p:blipFill>
        <p:spPr>
          <a:xfrm>
            <a:off x="4851570" y="960120"/>
            <a:ext cx="2423160" cy="3931920"/>
          </a:xfrm>
          <a:prstGeom prst="rect">
            <a:avLst/>
          </a:prstGeom>
          <a:ln>
            <a:solidFill>
              <a:schemeClr val="bg2"/>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77841"/>
            <a:ext cx="7505700" cy="491954"/>
          </a:xfrm>
        </p:spPr>
        <p:txBody>
          <a:bodyPr>
            <a:noAutofit/>
          </a:bodyPr>
          <a:lstStyle/>
          <a:p>
            <a:r>
              <a:rPr sz="2000" b="1" dirty="0"/>
              <a:t>4.2 Screen Shots: Student Dashboard &amp; Course Catalog</a:t>
            </a:r>
          </a:p>
        </p:txBody>
      </p:sp>
      <p:pic>
        <p:nvPicPr>
          <p:cNvPr id="3" name="Picture 2" descr="image.png"/>
          <p:cNvPicPr>
            <a:picLocks noChangeAspect="1"/>
          </p:cNvPicPr>
          <p:nvPr/>
        </p:nvPicPr>
        <p:blipFill>
          <a:blip r:embed="rId2"/>
          <a:stretch>
            <a:fillRect/>
          </a:stretch>
        </p:blipFill>
        <p:spPr>
          <a:xfrm>
            <a:off x="1571578" y="960120"/>
            <a:ext cx="2423160" cy="3931920"/>
          </a:xfrm>
          <a:prstGeom prst="rect">
            <a:avLst/>
          </a:prstGeom>
          <a:ln>
            <a:solidFill>
              <a:schemeClr val="bg2"/>
            </a:solidFill>
          </a:ln>
        </p:spPr>
      </p:pic>
      <p:pic>
        <p:nvPicPr>
          <p:cNvPr id="4" name="Picture 3" descr="image.png"/>
          <p:cNvPicPr>
            <a:picLocks noChangeAspect="1"/>
          </p:cNvPicPr>
          <p:nvPr/>
        </p:nvPicPr>
        <p:blipFill>
          <a:blip r:embed="rId3"/>
          <a:stretch>
            <a:fillRect/>
          </a:stretch>
        </p:blipFill>
        <p:spPr>
          <a:xfrm>
            <a:off x="4832194" y="960120"/>
            <a:ext cx="2423160" cy="3931920"/>
          </a:xfrm>
          <a:prstGeom prst="rect">
            <a:avLst/>
          </a:prstGeom>
          <a:ln>
            <a:solidFill>
              <a:schemeClr val="bg2"/>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406985"/>
            <a:ext cx="7505700" cy="485112"/>
          </a:xfrm>
        </p:spPr>
        <p:txBody>
          <a:bodyPr>
            <a:normAutofit fontScale="90000"/>
          </a:bodyPr>
          <a:lstStyle/>
          <a:p>
            <a:r>
              <a:rPr sz="2000" b="1" dirty="0"/>
              <a:t>4.2 Screen Shots: Video Learning &amp; Timed Mock Exam</a:t>
            </a:r>
          </a:p>
        </p:txBody>
      </p:sp>
      <p:pic>
        <p:nvPicPr>
          <p:cNvPr id="3" name="Picture 2" descr="image.png"/>
          <p:cNvPicPr>
            <a:picLocks noChangeAspect="1"/>
          </p:cNvPicPr>
          <p:nvPr/>
        </p:nvPicPr>
        <p:blipFill>
          <a:blip r:embed="rId2"/>
          <a:stretch>
            <a:fillRect/>
          </a:stretch>
        </p:blipFill>
        <p:spPr>
          <a:xfrm>
            <a:off x="1519540" y="960120"/>
            <a:ext cx="2423160" cy="3931920"/>
          </a:xfrm>
          <a:prstGeom prst="rect">
            <a:avLst/>
          </a:prstGeom>
          <a:ln>
            <a:solidFill>
              <a:schemeClr val="bg2"/>
            </a:solidFill>
          </a:ln>
        </p:spPr>
      </p:pic>
      <p:pic>
        <p:nvPicPr>
          <p:cNvPr id="4" name="Picture 3" descr="image.png"/>
          <p:cNvPicPr>
            <a:picLocks noChangeAspect="1"/>
          </p:cNvPicPr>
          <p:nvPr/>
        </p:nvPicPr>
        <p:blipFill>
          <a:blip r:embed="rId3"/>
          <a:stretch>
            <a:fillRect/>
          </a:stretch>
        </p:blipFill>
        <p:spPr>
          <a:xfrm>
            <a:off x="4787591" y="960120"/>
            <a:ext cx="2423160" cy="3931920"/>
          </a:xfrm>
          <a:prstGeom prst="rect">
            <a:avLst/>
          </a:prstGeom>
          <a:ln>
            <a:solidFill>
              <a:schemeClr val="bg2"/>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63873"/>
            <a:ext cx="7505700" cy="505922"/>
          </a:xfrm>
        </p:spPr>
        <p:txBody>
          <a:bodyPr>
            <a:normAutofit fontScale="90000"/>
          </a:bodyPr>
          <a:lstStyle/>
          <a:p>
            <a:r>
              <a:rPr sz="2000" b="1" dirty="0"/>
              <a:t>4.2 Screen Shots: Spaced Repetition Flashcards &amp; AI Doubt Solver</a:t>
            </a:r>
          </a:p>
        </p:txBody>
      </p:sp>
      <p:pic>
        <p:nvPicPr>
          <p:cNvPr id="4" name="Picture 3" descr="image.png"/>
          <p:cNvPicPr>
            <a:picLocks noChangeAspect="1"/>
          </p:cNvPicPr>
          <p:nvPr/>
        </p:nvPicPr>
        <p:blipFill>
          <a:blip r:embed="rId2"/>
          <a:stretch>
            <a:fillRect/>
          </a:stretch>
        </p:blipFill>
        <p:spPr>
          <a:xfrm>
            <a:off x="3222283" y="847707"/>
            <a:ext cx="2423160" cy="3931920"/>
          </a:xfrm>
          <a:prstGeom prst="rect">
            <a:avLst/>
          </a:prstGeom>
          <a:ln>
            <a:solidFill>
              <a:schemeClr val="bg2"/>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444156"/>
            <a:ext cx="7505700" cy="425639"/>
          </a:xfrm>
        </p:spPr>
        <p:txBody>
          <a:bodyPr>
            <a:normAutofit fontScale="90000"/>
          </a:bodyPr>
          <a:lstStyle/>
          <a:p>
            <a:r>
              <a:rPr sz="2000" b="1" dirty="0"/>
              <a:t>4.2 Screen Shots: Campus Leaderboard &amp; Student Profile</a:t>
            </a:r>
          </a:p>
        </p:txBody>
      </p:sp>
      <p:pic>
        <p:nvPicPr>
          <p:cNvPr id="3" name="Picture 2" descr="11_leaderboard.png"/>
          <p:cNvPicPr>
            <a:picLocks noChangeAspect="1"/>
          </p:cNvPicPr>
          <p:nvPr/>
        </p:nvPicPr>
        <p:blipFill>
          <a:blip r:embed="rId2"/>
          <a:stretch>
            <a:fillRect/>
          </a:stretch>
        </p:blipFill>
        <p:spPr>
          <a:xfrm>
            <a:off x="1489803" y="960120"/>
            <a:ext cx="2423160" cy="3931920"/>
          </a:xfrm>
          <a:prstGeom prst="rect">
            <a:avLst/>
          </a:prstGeom>
          <a:ln>
            <a:solidFill>
              <a:schemeClr val="bg2"/>
            </a:solidFill>
          </a:ln>
        </p:spPr>
      </p:pic>
      <p:pic>
        <p:nvPicPr>
          <p:cNvPr id="4" name="Picture 3" descr="image.png"/>
          <p:cNvPicPr>
            <a:picLocks noChangeAspect="1"/>
          </p:cNvPicPr>
          <p:nvPr/>
        </p:nvPicPr>
        <p:blipFill>
          <a:blip r:embed="rId3"/>
          <a:stretch>
            <a:fillRect/>
          </a:stretch>
        </p:blipFill>
        <p:spPr>
          <a:xfrm>
            <a:off x="4572000" y="960120"/>
            <a:ext cx="2423160" cy="3931920"/>
          </a:xfrm>
          <a:prstGeom prst="rect">
            <a:avLst/>
          </a:prstGeom>
          <a:ln>
            <a:solidFill>
              <a:schemeClr val="bg2"/>
            </a:solid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lstStyle/>
          <a:p>
            <a:r>
              <a:rPr sz="4000" b="1" dirty="0"/>
              <a:t>5. Agile Documentation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5.1 Agile Project Charter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5.2 Agile Roadmap / Schedule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5.3 Agile Project Plan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5.4 Agile User Stories (Minimum 3 Tasks)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5.5 Agile Release Plan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5.6 Agile Product Backlog &amp; Sprint Backlog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5.7 Agile Test Plan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5.8 Earned-Value and Burn Charts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noAutofit/>
          </a:bodyPr>
          <a:lstStyle/>
          <a:p>
            <a:r>
              <a:rPr sz="4400" b="1" dirty="0"/>
              <a:t>6. Proposed Enhancements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65760"/>
            <a:ext cx="7955279" cy="548640"/>
          </a:xfrm>
        </p:spPr>
        <p:txBody>
          <a:bodyPr>
            <a:normAutofit fontScale="90000"/>
          </a:bodyPr>
          <a:lstStyle/>
          <a:p>
            <a:r>
              <a:t>6. Proposed Enhancements</a:t>
            </a:r>
          </a:p>
        </p:txBody>
      </p:sp>
      <p:sp>
        <p:nvSpPr>
          <p:cNvPr id="3" name="TextBox 2"/>
          <p:cNvSpPr txBox="1"/>
          <p:nvPr/>
        </p:nvSpPr>
        <p:spPr>
          <a:xfrm>
            <a:off x="594360" y="1334058"/>
            <a:ext cx="7955279" cy="3229089"/>
          </a:xfrm>
          <a:prstGeom prst="rect">
            <a:avLst/>
          </a:prstGeom>
          <a:noFill/>
        </p:spPr>
        <p:txBody>
          <a:bodyPr wrap="square" lIns="0" tIns="0" rIns="0" bIns="0">
            <a:spAutoFit/>
          </a:bodyPr>
          <a:lstStyle/>
          <a:p>
            <a:pPr>
              <a:spcBef>
                <a:spcPts val="800"/>
              </a:spcBef>
            </a:pPr>
            <a:r>
              <a:rPr sz="1150" b="1" dirty="0">
                <a:solidFill>
                  <a:schemeClr val="bg2"/>
                </a:solidFill>
              </a:rPr>
              <a:t>1. Adaptive AI Difficulty Engine: </a:t>
            </a:r>
            <a:r>
              <a:rPr sz="1100" dirty="0">
                <a:solidFill>
                  <a:schemeClr val="bg2"/>
                </a:solidFill>
              </a:rPr>
              <a:t>Dynamically adjusts mock exam question difficulty in real time based on individual student performance history, accuracy streaks, and time spent per question.</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2. Real-Time Multiplayer Quiz Battles: </a:t>
            </a:r>
            <a:r>
              <a:rPr sz="1100" dirty="0">
                <a:solidFill>
                  <a:schemeClr val="bg2"/>
                </a:solidFill>
              </a:rPr>
              <a:t>Expands the 1v1 Quiz Duel into live classroom multiplayer tournaments and collaborative study groups with live voice viva discussion rooms.</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3. Placement Cell &amp; Faculty Analytics Portal: </a:t>
            </a:r>
            <a:r>
              <a:rPr sz="1100" dirty="0">
                <a:solidFill>
                  <a:schemeClr val="bg2"/>
                </a:solidFill>
              </a:rPr>
              <a:t>Web-based administration portal enabling college placement officers to monitor cohort preparedness, track weak subject patterns across student batches, and schedule targeted mock drives.</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4. Background Exam Sync &amp; Smart Push Alerts: </a:t>
            </a:r>
            <a:r>
              <a:rPr sz="1100" dirty="0">
                <a:solidFill>
                  <a:schemeClr val="bg2"/>
                </a:solidFill>
              </a:rPr>
              <a:t>Automatic offline-to-online test score syncing upon reconnection, paired with intelligent push notifications to maintain daily study streak retention.</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5. Regional Vernacular Language Support: </a:t>
            </a:r>
            <a:r>
              <a:rPr sz="1100" dirty="0">
                <a:solidFill>
                  <a:schemeClr val="bg2"/>
                </a:solidFill>
              </a:rPr>
              <a:t>Adding bilingual Gujarati and Hindi audio and explanations for academic school syllabi and technical definitions alongside standard English.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normAutofit/>
          </a:bodyPr>
          <a:lstStyle/>
          <a:p>
            <a:r>
              <a:rPr sz="4400" b="1" dirty="0"/>
              <a:t>7. Conclusion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59" y="507009"/>
            <a:ext cx="7955279" cy="548640"/>
          </a:xfrm>
        </p:spPr>
        <p:txBody>
          <a:bodyPr>
            <a:normAutofit fontScale="90000"/>
          </a:bodyPr>
          <a:lstStyle/>
          <a:p>
            <a:r>
              <a:rPr dirty="0"/>
              <a:t>7. Conclusion</a:t>
            </a:r>
          </a:p>
        </p:txBody>
      </p:sp>
      <p:sp>
        <p:nvSpPr>
          <p:cNvPr id="3" name="TextBox 2"/>
          <p:cNvSpPr txBox="1"/>
          <p:nvPr/>
        </p:nvSpPr>
        <p:spPr>
          <a:xfrm>
            <a:off x="594360" y="1232922"/>
            <a:ext cx="7955279" cy="2677656"/>
          </a:xfrm>
          <a:prstGeom prst="rect">
            <a:avLst/>
          </a:prstGeom>
          <a:noFill/>
        </p:spPr>
        <p:txBody>
          <a:bodyPr wrap="square" lIns="0" tIns="0" rIns="0" bIns="0">
            <a:spAutoFit/>
          </a:bodyPr>
          <a:lstStyle/>
          <a:p>
            <a:pPr>
              <a:spcBef>
                <a:spcPts val="800"/>
              </a:spcBef>
            </a:pPr>
            <a:r>
              <a:rPr sz="1150" b="1" dirty="0">
                <a:solidFill>
                  <a:schemeClr val="bg2"/>
                </a:solidFill>
              </a:rPr>
              <a:t>• Unified Learning Solution: </a:t>
            </a:r>
            <a:r>
              <a:rPr sz="1100" dirty="0" err="1">
                <a:solidFill>
                  <a:schemeClr val="bg2"/>
                </a:solidFill>
              </a:rPr>
              <a:t>MindSprint</a:t>
            </a:r>
            <a:r>
              <a:rPr sz="1100" dirty="0">
                <a:solidFill>
                  <a:schemeClr val="bg2"/>
                </a:solidFill>
              </a:rPr>
              <a:t> successfully eliminates the fragmentation of student preparation by integrating aptitude mock tests, technical video masterclasses, formula flashcards, and AI doubt resolution into a single responsive mobile application.</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 Production-Grade Full-Stack Architecture: </a:t>
            </a:r>
            <a:r>
              <a:rPr sz="1100" dirty="0">
                <a:solidFill>
                  <a:schemeClr val="bg2"/>
                </a:solidFill>
              </a:rPr>
              <a:t>Built with React Native, Expo, TypeScript, Node.js REST APIs, and MongoDB, supported by an intelligent offline fallback layer that guarantees zero downtime and uninterrupted learning during network drops.</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 Proven Agile Execution: </a:t>
            </a:r>
            <a:r>
              <a:rPr sz="1100" dirty="0">
                <a:solidFill>
                  <a:schemeClr val="bg2"/>
                </a:solidFill>
              </a:rPr>
              <a:t>Developed iteratively across six sprints using the Scrum framework, incorporating sprint backlogs, burn-down velocity tracking, and comprehensive quality assurance testing across Android and Web environments.</a:t>
            </a:r>
            <a:endParaRPr lang="en-US" sz="1100" dirty="0">
              <a:solidFill>
                <a:schemeClr val="bg2"/>
              </a:solidFill>
            </a:endParaRPr>
          </a:p>
          <a:p>
            <a:pPr>
              <a:spcBef>
                <a:spcPts val="800"/>
              </a:spcBef>
            </a:pPr>
            <a:endParaRPr sz="1100" dirty="0">
              <a:solidFill>
                <a:schemeClr val="bg2"/>
              </a:solidFill>
            </a:endParaRPr>
          </a:p>
          <a:p>
            <a:pPr>
              <a:spcBef>
                <a:spcPts val="800"/>
              </a:spcBef>
            </a:pPr>
            <a:r>
              <a:rPr sz="1150" b="1" dirty="0">
                <a:solidFill>
                  <a:schemeClr val="bg2"/>
                </a:solidFill>
              </a:rPr>
              <a:t>• Direct Academic &amp; Placement Impact: </a:t>
            </a:r>
            <a:r>
              <a:rPr sz="1100" dirty="0">
                <a:solidFill>
                  <a:schemeClr val="bg2"/>
                </a:solidFill>
              </a:rPr>
              <a:t>Automated weak-spot diagnostics (&lt;60% accuracy flagging) and bite-sized flashcards empower college students to pinpoint critical improvement areas and excel in campus placement drives.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normAutofit/>
          </a:bodyPr>
          <a:lstStyle/>
          <a:p>
            <a:r>
              <a:rPr sz="4400" b="1" dirty="0"/>
              <a:t>8. Bibliography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65760"/>
            <a:ext cx="7955279" cy="548640"/>
          </a:xfrm>
        </p:spPr>
        <p:txBody>
          <a:bodyPr>
            <a:normAutofit fontScale="90000"/>
          </a:bodyPr>
          <a:lstStyle/>
          <a:p>
            <a:r>
              <a:t>8. Bibliography</a:t>
            </a:r>
          </a:p>
        </p:txBody>
      </p:sp>
      <p:sp>
        <p:nvSpPr>
          <p:cNvPr id="3" name="TextBox 2"/>
          <p:cNvSpPr txBox="1"/>
          <p:nvPr/>
        </p:nvSpPr>
        <p:spPr>
          <a:xfrm>
            <a:off x="594359" y="1432640"/>
            <a:ext cx="7955279" cy="2728952"/>
          </a:xfrm>
          <a:prstGeom prst="rect">
            <a:avLst/>
          </a:prstGeom>
          <a:noFill/>
        </p:spPr>
        <p:txBody>
          <a:bodyPr wrap="square" lIns="0" tIns="0" rIns="0" bIns="0">
            <a:spAutoFit/>
          </a:bodyPr>
          <a:lstStyle/>
          <a:p>
            <a:pPr>
              <a:spcBef>
                <a:spcPts val="800"/>
              </a:spcBef>
            </a:pPr>
            <a:r>
              <a:rPr sz="1200" b="1" dirty="0">
                <a:solidFill>
                  <a:schemeClr val="bg2"/>
                </a:solidFill>
              </a:rPr>
              <a:t>1. Expo &amp; React Native Framework Documentation: </a:t>
            </a:r>
            <a:r>
              <a:rPr sz="1200" dirty="0">
                <a:solidFill>
                  <a:schemeClr val="bg2"/>
                </a:solidFill>
              </a:rPr>
              <a:t>Official architecture guides, Expo SDK v54/v57 APIs, Expo Router file-based routing, and React Native component lifecycle. https://docs.expo.dev</a:t>
            </a:r>
          </a:p>
          <a:p>
            <a:pPr>
              <a:spcBef>
                <a:spcPts val="800"/>
              </a:spcBef>
            </a:pPr>
            <a:r>
              <a:rPr sz="1200" b="1" dirty="0">
                <a:solidFill>
                  <a:schemeClr val="bg2"/>
                </a:solidFill>
              </a:rPr>
              <a:t>2. Node.js &amp; Express.js Developer Guides: </a:t>
            </a:r>
            <a:r>
              <a:rPr sz="1200" dirty="0">
                <a:solidFill>
                  <a:schemeClr val="bg2"/>
                </a:solidFill>
              </a:rPr>
              <a:t>RESTful API design principles, Express middleware pipelines, JWT bearer token authentication, and </a:t>
            </a:r>
            <a:r>
              <a:rPr sz="1200" dirty="0" err="1">
                <a:solidFill>
                  <a:schemeClr val="bg2"/>
                </a:solidFill>
              </a:rPr>
              <a:t>bcryptjs</a:t>
            </a:r>
            <a:r>
              <a:rPr sz="1200" dirty="0">
                <a:solidFill>
                  <a:schemeClr val="bg2"/>
                </a:solidFill>
              </a:rPr>
              <a:t> password security. https://expressjs.com</a:t>
            </a:r>
          </a:p>
          <a:p>
            <a:pPr>
              <a:spcBef>
                <a:spcPts val="800"/>
              </a:spcBef>
            </a:pPr>
            <a:r>
              <a:rPr sz="1200" b="1" dirty="0">
                <a:solidFill>
                  <a:schemeClr val="bg2"/>
                </a:solidFill>
              </a:rPr>
              <a:t>3. MongoDB &amp; Mongoose Object Data Modeling: </a:t>
            </a:r>
            <a:r>
              <a:rPr sz="1200" dirty="0">
                <a:solidFill>
                  <a:schemeClr val="bg2"/>
                </a:solidFill>
              </a:rPr>
              <a:t>NoSQL document schema design, indexing strategies, and MongoDB Atlas database connection pooling. https://mongoosejs.com</a:t>
            </a:r>
          </a:p>
          <a:p>
            <a:pPr>
              <a:spcBef>
                <a:spcPts val="800"/>
              </a:spcBef>
            </a:pPr>
            <a:r>
              <a:rPr sz="1200" b="1" dirty="0">
                <a:solidFill>
                  <a:schemeClr val="bg2"/>
                </a:solidFill>
              </a:rPr>
              <a:t>4. Google Gemini API Documentation: </a:t>
            </a:r>
            <a:r>
              <a:rPr sz="1200" dirty="0">
                <a:solidFill>
                  <a:schemeClr val="bg2"/>
                </a:solidFill>
              </a:rPr>
              <a:t>Multimodal generative AI integration, prompt engineering, and image OCR doubt solving. https://ai.google.dev</a:t>
            </a:r>
          </a:p>
          <a:p>
            <a:pPr>
              <a:spcBef>
                <a:spcPts val="800"/>
              </a:spcBef>
            </a:pPr>
            <a:r>
              <a:rPr sz="1200" b="1" dirty="0">
                <a:solidFill>
                  <a:schemeClr val="bg2"/>
                </a:solidFill>
              </a:rPr>
              <a:t>5. Gujarat Technological University (GTU) &amp; GSEB Curriculum Manuals: </a:t>
            </a:r>
            <a:r>
              <a:rPr sz="1200" dirty="0">
                <a:solidFill>
                  <a:schemeClr val="bg2"/>
                </a:solidFill>
              </a:rPr>
              <a:t>Official engineering syllabus structures, academic exam blueprints, and subject textbooks.</a:t>
            </a:r>
          </a:p>
          <a:p>
            <a:pPr>
              <a:spcBef>
                <a:spcPts val="800"/>
              </a:spcBef>
            </a:pPr>
            <a:r>
              <a:rPr sz="1200" b="1" dirty="0">
                <a:solidFill>
                  <a:schemeClr val="bg2"/>
                </a:solidFill>
              </a:rPr>
              <a:t>6. The Scrum Guide (Ken Schwaber &amp; Jeff Sutherland): </a:t>
            </a:r>
            <a:r>
              <a:rPr sz="1200" dirty="0">
                <a:solidFill>
                  <a:schemeClr val="bg2"/>
                </a:solidFill>
              </a:rPr>
              <a:t>The definitive rules and guidelines of the Scrum framework for Agile software development and sprint planning.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850" y="1881900"/>
            <a:ext cx="6372300" cy="1379700"/>
          </a:xfrm>
        </p:spPr>
        <p:txBody>
          <a:bodyPr>
            <a:normAutofit/>
          </a:bodyPr>
          <a:lstStyle/>
          <a:p>
            <a:r>
              <a:rPr sz="6000" b="1" dirty="0"/>
              <a:t>Thank You</a:t>
            </a: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869</TotalTime>
  <Words>2177</Words>
  <Application>Microsoft Office PowerPoint</Application>
  <PresentationFormat>On-screen Show (16:9)</PresentationFormat>
  <Paragraphs>190</Paragraphs>
  <Slides>54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Wingdings</vt:lpstr>
      <vt:lpstr>Nunito</vt:lpstr>
      <vt:lpstr>Arial</vt:lpstr>
      <vt:lpstr>Calibri</vt:lpstr>
      <vt:lpstr>Shift</vt:lpstr>
      <vt:lpstr>MindSprint</vt:lpstr>
      <vt:lpstr>1. Introduction</vt:lpstr>
      <vt:lpstr>1.1 Existing System</vt:lpstr>
      <vt:lpstr>1.2 Need for the New System </vt:lpstr>
      <vt:lpstr>1.3 Objective of the New System</vt:lpstr>
      <vt:lpstr>1.4 Problem Definition</vt:lpstr>
      <vt:lpstr>1.5 Core Components</vt:lpstr>
      <vt:lpstr>1.6 Project Profile</vt:lpstr>
      <vt:lpstr>1.7 Assumptions and Constraints</vt:lpstr>
      <vt:lpstr>1.8 Advantages and Limitations of the Proposed System</vt:lpstr>
      <vt:lpstr>2. Requirement Determination &amp; Analysis</vt:lpstr>
      <vt:lpstr>2.1 Requirement Determination</vt:lpstr>
      <vt:lpstr>2.1 Requirement Determination</vt:lpstr>
      <vt:lpstr>2.2 Targeted Users</vt:lpstr>
      <vt:lpstr>3. System Design</vt:lpstr>
      <vt:lpstr>3.1 Use Case Diagram</vt:lpstr>
      <vt:lpstr>3.2 Class Diagram</vt:lpstr>
      <vt:lpstr>3.3 Interaction Diagram (Sequence Diagram)</vt:lpstr>
      <vt:lpstr>3.4 Activity Diagram</vt:lpstr>
      <vt:lpstr>3.5 Data Dictionary</vt:lpstr>
      <vt:lpstr>3.5 Data Dictionary</vt:lpstr>
      <vt:lpstr>3.5 Data Dictionary</vt:lpstr>
      <vt:lpstr>3.5 Data Dictionary</vt:lpstr>
      <vt:lpstr>3.5 Data Dictionary</vt:lpstr>
      <vt:lpstr>3.5 Data Dictionary</vt:lpstr>
      <vt:lpstr>3.5 Data Dictionary</vt:lpstr>
      <vt:lpstr>3.5 Data Dictionary</vt:lpstr>
      <vt:lpstr>3.5 Data Dictionary</vt:lpstr>
      <vt:lpstr>3.5 Data Dictionary</vt:lpstr>
      <vt:lpstr>3.5 Data Dictionary</vt:lpstr>
      <vt:lpstr>4. Development</vt:lpstr>
      <vt:lpstr>4.1 Coding Standards</vt:lpstr>
      <vt:lpstr>4.1 Coding Standards</vt:lpstr>
      <vt:lpstr>4.2 Screen Shots: Onboarding &amp; Authentication</vt:lpstr>
      <vt:lpstr>4.2 Screen Shots: Student Dashboard &amp; Course Catalog</vt:lpstr>
      <vt:lpstr>4.2 Screen Shots: Video Learning &amp; Timed Mock Exam</vt:lpstr>
      <vt:lpstr>4.2 Screen Shots: Spaced Repetition Flashcards &amp; AI Doubt Solver</vt:lpstr>
      <vt:lpstr>4.2 Screen Shots: Campus Leaderboard &amp; Student Profile</vt:lpstr>
      <vt:lpstr>5. Agile Documentation</vt:lpstr>
      <vt:lpstr>5.1 Agile Project Charter</vt:lpstr>
      <vt:lpstr>5.2 Agile Roadmap / Schedule</vt:lpstr>
      <vt:lpstr>5.3 Agile Project Plan</vt:lpstr>
      <vt:lpstr>5.4 Agile User Stories (Minimum 3 Tasks)</vt:lpstr>
      <vt:lpstr>5.5 Agile Release Plan</vt:lpstr>
      <vt:lpstr>5.6 Agile Product Backlog &amp; Sprint Backlog</vt:lpstr>
      <vt:lpstr>5.7 Agile Test Plan</vt:lpstr>
      <vt:lpstr>5.8 Earned-Value and Burn Charts</vt:lpstr>
      <vt:lpstr>6. Proposed Enhancements</vt:lpstr>
      <vt:lpstr>6. Proposed Enhancements</vt:lpstr>
      <vt:lpstr>7. Conclusion</vt:lpstr>
      <vt:lpstr>7. Conclusion</vt:lpstr>
      <vt:lpstr>8. Bibliography</vt:lpstr>
      <vt:lpstr>8. Bibliography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Dvarkesh Vavaliya</dc:creator>
  <cp:lastModifiedBy>SATISH MANJIBHAI RANGANI</cp:lastModifiedBy>
  <cp:revision>45</cp:revision>
  <dcterms:modified xsi:type="dcterms:W3CDTF">2026-10-30T10:21:13Z</dcterms:modified>
</cp:coreProperties>
</file>